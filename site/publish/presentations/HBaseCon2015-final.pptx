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media/audio1.bin" ContentType="audio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55" r:id="rId2"/>
    <p:sldId id="368" r:id="rId3"/>
    <p:sldId id="357" r:id="rId4"/>
    <p:sldId id="375" r:id="rId5"/>
    <p:sldId id="376" r:id="rId6"/>
    <p:sldId id="369" r:id="rId7"/>
    <p:sldId id="393" r:id="rId8"/>
    <p:sldId id="389" r:id="rId9"/>
    <p:sldId id="390" r:id="rId10"/>
    <p:sldId id="391" r:id="rId11"/>
    <p:sldId id="392" r:id="rId12"/>
    <p:sldId id="370" r:id="rId13"/>
    <p:sldId id="371" r:id="rId14"/>
    <p:sldId id="381" r:id="rId15"/>
    <p:sldId id="372" r:id="rId16"/>
    <p:sldId id="382" r:id="rId17"/>
    <p:sldId id="380" r:id="rId18"/>
    <p:sldId id="383" r:id="rId19"/>
    <p:sldId id="373" r:id="rId20"/>
    <p:sldId id="386" r:id="rId21"/>
    <p:sldId id="384" r:id="rId22"/>
    <p:sldId id="388" r:id="rId23"/>
    <p:sldId id="387" r:id="rId24"/>
    <p:sldId id="394" r:id="rId25"/>
    <p:sldId id="377" r:id="rId26"/>
    <p:sldId id="378" r:id="rId27"/>
    <p:sldId id="379" r:id="rId28"/>
    <p:sldId id="362" r:id="rId29"/>
    <p:sldId id="363" r:id="rId30"/>
    <p:sldId id="364" r:id="rId31"/>
    <p:sldId id="365" r:id="rId32"/>
    <p:sldId id="366" r:id="rId33"/>
    <p:sldId id="367" r:id="rId34"/>
    <p:sldId id="374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-1152" y="-70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interSettings" Target="printerSettings/printerSettings1.bin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DDB2C-564A-F542-BECA-B2866967EE54}" type="datetimeFigureOut">
              <a:rPr lang="en-US" smtClean="0"/>
              <a:t>5/5/15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DEE85-CFC3-584B-B49F-8DC578897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4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Optimizations: predicate push-down;</a:t>
            </a:r>
            <a:r>
              <a:rPr lang="en-US" altLang="zh-CN" baseline="0" dirty="0" smtClean="0"/>
              <a:t> subquery rewrite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D4D541-DA15-FB48-87C3-D420991973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51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Optimizations:</a:t>
            </a:r>
            <a:r>
              <a:rPr lang="en-US" altLang="zh-CN" baseline="0" dirty="0" smtClean="0"/>
              <a:t> semi-join + FK-to-PK join optimization </a:t>
            </a:r>
            <a:r>
              <a:rPr lang="en-US" altLang="zh-CN" baseline="0" dirty="0" smtClean="0">
                <a:sym typeface="Wingdings" panose="05000000000000000000" pitchFamily="2" charset="2"/>
              </a:rPr>
              <a:t> SKIP-SCAN JOIN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D4D541-DA15-FB48-87C3-D420991973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6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DEE85-CFC3-584B-B49F-8DC578897A6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5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48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9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2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8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97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15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7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18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Subtitle,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601" y="4728602"/>
            <a:ext cx="9142797" cy="414899"/>
          </a:xfrm>
          <a:prstGeom prst="rect">
            <a:avLst/>
          </a:prstGeom>
          <a:solidFill>
            <a:srgbClr val="3C435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 sz="4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endParaRPr/>
          </a:p>
        </p:txBody>
      </p:sp>
      <p:pic>
        <p:nvPicPr>
          <p:cNvPr id="21" name="image2.png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149" y="4857638"/>
            <a:ext cx="122370" cy="1568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image3.png"/>
          <p:cNvPicPr/>
          <p:nvPr/>
        </p:nvPicPr>
        <p:blipFill>
          <a:blip r:embed="rId3">
            <a:alphaModFix amt="8000"/>
            <a:extLst/>
          </a:blip>
          <a:srcRect t="33937" r="21040" b="49457"/>
          <a:stretch>
            <a:fillRect/>
          </a:stretch>
        </p:blipFill>
        <p:spPr>
          <a:xfrm>
            <a:off x="5529066" y="4732811"/>
            <a:ext cx="3699311" cy="664869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Shape 23"/>
          <p:cNvSpPr>
            <a:spLocks noGrp="1"/>
          </p:cNvSpPr>
          <p:nvPr>
            <p:ph type="title"/>
          </p:nvPr>
        </p:nvSpPr>
        <p:spPr>
          <a:xfrm>
            <a:off x="1403648" y="218727"/>
            <a:ext cx="6408713" cy="720081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3300">
                <a:solidFill>
                  <a:srgbClr val="3C4353"/>
                </a:solidFill>
                <a:uFill>
                  <a:solidFill/>
                </a:uFill>
              </a:rPr>
              <a:t>Title Text</a:t>
            </a:r>
          </a:p>
        </p:txBody>
      </p:sp>
      <p:sp>
        <p:nvSpPr>
          <p:cNvPr id="24" name="Shape 24"/>
          <p:cNvSpPr>
            <a:spLocks noGrp="1"/>
          </p:cNvSpPr>
          <p:nvPr>
            <p:ph type="body" idx="1"/>
          </p:nvPr>
        </p:nvSpPr>
        <p:spPr>
          <a:xfrm>
            <a:off x="1403648" y="880517"/>
            <a:ext cx="6408713" cy="377181"/>
          </a:xfrm>
          <a:prstGeom prst="rect">
            <a:avLst/>
          </a:prstGeom>
        </p:spPr>
        <p:txBody>
          <a:bodyPr/>
          <a:lstStyle>
            <a:lvl2pPr indent="457200"/>
            <a:lvl3pPr indent="914400"/>
            <a:lvl4pPr indent="1371600"/>
            <a:lvl5pPr indent="1828800"/>
          </a:lstStyle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14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  <a:uFillTx/>
              </a:defRPr>
            </a:pPr>
            <a:r>
              <a:rPr sz="14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  <a:uFillTx/>
              </a:defRPr>
            </a:pPr>
            <a:r>
              <a:rPr sz="14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  <a:uFillTx/>
              </a:defRPr>
            </a:pPr>
            <a:r>
              <a:rPr sz="14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  <a:uFillTx/>
              </a:defRPr>
            </a:pPr>
            <a:r>
              <a:rPr sz="14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875689673"/>
      </p:ext>
    </p:extLst>
  </p:cSld>
  <p:clrMapOvr>
    <a:masterClrMapping/>
  </p:clrMapOvr>
  <p:transition xmlns:p14="http://schemas.microsoft.com/office/powerpoint/2010/main"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36B4E-C1CC-834E-90BC-6D0EFC4AD109}" type="datetimeFigureOut">
              <a:rPr lang="en-US" smtClean="0"/>
              <a:t>5/5/15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C71B-7F03-B84D-86B7-E5D13C0F986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2014-12-Apache_Phoenix-Logo-FINAL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026" y="4636162"/>
            <a:ext cx="1985316" cy="4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1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tephra.io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audio" Target="../media/audio1.bin"/><Relationship Id="rId3" Type="http://schemas.openxmlformats.org/officeDocument/2006/relationships/audio" Target="../media/audio1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4654" y="2914650"/>
            <a:ext cx="8167722" cy="207204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The Evolution of a Relational Database Layer over </a:t>
            </a:r>
            <a:r>
              <a:rPr lang="en-US" b="1" dirty="0" err="1" smtClean="0"/>
              <a:t>HBase</a:t>
            </a:r>
            <a:endParaRPr lang="en-US" b="1" dirty="0"/>
          </a:p>
          <a:p>
            <a:r>
              <a:rPr lang="en-US" sz="2600" dirty="0" smtClean="0"/>
              <a:t>@</a:t>
            </a:r>
            <a:r>
              <a:rPr lang="en-US" sz="2600" dirty="0" err="1" smtClean="0"/>
              <a:t>ApachePhoenix</a:t>
            </a:r>
            <a:endParaRPr lang="en-US" sz="2600" dirty="0" smtClean="0"/>
          </a:p>
          <a:p>
            <a:r>
              <a:rPr lang="en-US" sz="2600" dirty="0" smtClean="0"/>
              <a:t>http://</a:t>
            </a:r>
            <a:r>
              <a:rPr lang="en-US" sz="2600" dirty="0" err="1" smtClean="0"/>
              <a:t>phoenix.apache.org</a:t>
            </a:r>
            <a:r>
              <a:rPr lang="en-US" sz="2600" dirty="0" smtClean="0"/>
              <a:t>/</a:t>
            </a:r>
          </a:p>
          <a:p>
            <a:r>
              <a:rPr lang="en-US" sz="2600" dirty="0" smtClean="0"/>
              <a:t>James Taylor (@</a:t>
            </a:r>
            <a:r>
              <a:rPr lang="en-US" sz="2600" dirty="0" err="1" smtClean="0"/>
              <a:t>JamesPlusPlus</a:t>
            </a:r>
            <a:r>
              <a:rPr lang="en-US" sz="2600" dirty="0" smtClean="0"/>
              <a:t>)</a:t>
            </a:r>
          </a:p>
          <a:p>
            <a:r>
              <a:rPr lang="en-US" sz="2600" dirty="0" smtClean="0"/>
              <a:t>Maryann </a:t>
            </a:r>
            <a:r>
              <a:rPr lang="en-US" sz="2600" dirty="0" err="1" smtClean="0"/>
              <a:t>Xue</a:t>
            </a:r>
            <a:r>
              <a:rPr lang="en-US" sz="2600" dirty="0" smtClean="0"/>
              <a:t> (@</a:t>
            </a:r>
            <a:r>
              <a:rPr lang="en-US" sz="2600" dirty="0" err="1" smtClean="0"/>
              <a:t>MaryannXue</a:t>
            </a:r>
            <a:r>
              <a:rPr lang="en-US" sz="2600" dirty="0" smtClean="0"/>
              <a:t>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632376" y="4777710"/>
            <a:ext cx="43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V5</a:t>
            </a:r>
          </a:p>
        </p:txBody>
      </p:sp>
      <p:pic>
        <p:nvPicPr>
          <p:cNvPr id="6" name="Picture 5" descr="2014-12-Apache_Phoenix-Logo-FIN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05" y="453491"/>
            <a:ext cx="7171514" cy="21012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04397" y="4473655"/>
            <a:ext cx="2639604" cy="6698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273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cs typeface="Arial"/>
              </a:rPr>
              <a:t>About James</a:t>
            </a:r>
            <a:endParaRPr lang="en-US" sz="3600" b="1" dirty="0"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5"/>
            <a:ext cx="8229600" cy="4050631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Architect at </a:t>
            </a:r>
            <a:r>
              <a:rPr lang="en-US" sz="2800" dirty="0" err="1" smtClean="0">
                <a:solidFill>
                  <a:srgbClr val="000000"/>
                </a:solidFill>
              </a:rPr>
              <a:t>Salesforce.com</a:t>
            </a:r>
            <a:endParaRPr lang="en-US" sz="2800" dirty="0" smtClean="0">
              <a:solidFill>
                <a:srgbClr val="000000"/>
              </a:solidFill>
            </a:endParaRP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Part of the Big Data group</a:t>
            </a:r>
          </a:p>
          <a:p>
            <a:r>
              <a:rPr lang="en-US" sz="2800" dirty="0">
                <a:solidFill>
                  <a:srgbClr val="000000"/>
                </a:solidFill>
              </a:rPr>
              <a:t>Lead of Apache Phoenix project</a:t>
            </a:r>
            <a:endParaRPr lang="en-US" sz="2800" dirty="0" smtClean="0"/>
          </a:p>
          <a:p>
            <a:pPr lvl="1"/>
            <a:r>
              <a:rPr lang="en-US" sz="2400" dirty="0">
                <a:solidFill>
                  <a:srgbClr val="000000"/>
                </a:solidFill>
              </a:rPr>
              <a:t>Top Level Project (Happy Birthday!</a:t>
            </a:r>
            <a:r>
              <a:rPr lang="en-US" sz="2400" dirty="0" smtClean="0">
                <a:solidFill>
                  <a:srgbClr val="000000"/>
                </a:solidFill>
              </a:rPr>
              <a:t>)</a:t>
            </a:r>
          </a:p>
          <a:p>
            <a:r>
              <a:rPr lang="en-US" sz="2800" dirty="0" smtClean="0">
                <a:solidFill>
                  <a:srgbClr val="000000"/>
                </a:solidFill>
              </a:rPr>
              <a:t>PMC member of Apache Calcite</a:t>
            </a:r>
            <a:endParaRPr lang="en-US" sz="2800" dirty="0" smtClean="0"/>
          </a:p>
          <a:p>
            <a:r>
              <a:rPr lang="en-US" sz="2800" dirty="0" smtClean="0">
                <a:solidFill>
                  <a:srgbClr val="000000"/>
                </a:solidFill>
              </a:rPr>
              <a:t>Engineer and Product Manager at </a:t>
            </a:r>
            <a:r>
              <a:rPr lang="en-US" sz="2800" dirty="0">
                <a:solidFill>
                  <a:srgbClr val="000000"/>
                </a:solidFill>
              </a:rPr>
              <a:t>BEA </a:t>
            </a:r>
            <a:r>
              <a:rPr lang="en-US" sz="2800" dirty="0" smtClean="0">
                <a:solidFill>
                  <a:srgbClr val="000000"/>
                </a:solidFill>
              </a:rPr>
              <a:t>Systems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</a:rPr>
              <a:t>XQuery-based federated query </a:t>
            </a:r>
            <a:r>
              <a:rPr lang="en-US" sz="2400" dirty="0" smtClean="0">
                <a:solidFill>
                  <a:srgbClr val="000000"/>
                </a:solidFill>
              </a:rPr>
              <a:t>engine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</a:rPr>
              <a:t>SQL-based complex event processing engine</a:t>
            </a:r>
            <a:endParaRPr lang="en-US" sz="2400" dirty="0" smtClean="0"/>
          </a:p>
          <a:p>
            <a:r>
              <a:rPr lang="en-US" sz="2800" dirty="0">
                <a:cs typeface="Arial"/>
              </a:rPr>
              <a:t>Various startups prior to that</a:t>
            </a:r>
          </a:p>
        </p:txBody>
      </p:sp>
      <p:pic>
        <p:nvPicPr>
          <p:cNvPr id="4" name="Picture 3" descr="James_S-squar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693" y="832185"/>
            <a:ext cx="1765567" cy="179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841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Agenda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5"/>
            <a:ext cx="8229600" cy="4050631"/>
          </a:xfrm>
        </p:spPr>
        <p:txBody>
          <a:bodyPr/>
          <a:lstStyle/>
          <a:p>
            <a:r>
              <a:rPr lang="en-US" sz="2800" dirty="0" smtClean="0"/>
              <a:t>What is Apache Phoenix?</a:t>
            </a:r>
          </a:p>
          <a:p>
            <a:r>
              <a:rPr lang="en-US" sz="2800" dirty="0" smtClean="0"/>
              <a:t>State of the Union</a:t>
            </a:r>
          </a:p>
          <a:p>
            <a:r>
              <a:rPr lang="en-US" sz="2800" dirty="0"/>
              <a:t>A Deeper Look</a:t>
            </a:r>
          </a:p>
          <a:p>
            <a:pPr lvl="1"/>
            <a:r>
              <a:rPr lang="en-US" sz="2400" dirty="0"/>
              <a:t>Joins and </a:t>
            </a:r>
            <a:r>
              <a:rPr lang="en-US" sz="2400" dirty="0" err="1"/>
              <a:t>Subquery</a:t>
            </a:r>
            <a:r>
              <a:rPr lang="en-US" sz="2400" dirty="0"/>
              <a:t> Support</a:t>
            </a:r>
          </a:p>
          <a:p>
            <a:r>
              <a:rPr lang="en-US" sz="2800" dirty="0" smtClean="0"/>
              <a:t>What’s </a:t>
            </a:r>
            <a:r>
              <a:rPr lang="en-US" sz="2800" dirty="0" smtClean="0"/>
              <a:t>New?</a:t>
            </a:r>
          </a:p>
          <a:p>
            <a:r>
              <a:rPr lang="en-US" sz="2800" dirty="0" smtClean="0"/>
              <a:t>What’s </a:t>
            </a:r>
            <a:r>
              <a:rPr lang="en-US" sz="2800" dirty="0" smtClean="0"/>
              <a:t>Next?</a:t>
            </a:r>
          </a:p>
          <a:p>
            <a:r>
              <a:rPr lang="en-US" sz="2800" dirty="0" smtClean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6601740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5953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What is Apache Phoenix?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7"/>
            <a:ext cx="8229600" cy="405063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dirty="0" smtClean="0"/>
              <a:t>A relational database layer for Apache HBase</a:t>
            </a:r>
            <a:endParaRPr lang="en-US" sz="2400" dirty="0" smtClean="0"/>
          </a:p>
          <a:p>
            <a:pPr lvl="1" algn="just"/>
            <a:r>
              <a:rPr lang="en-US" sz="2400" dirty="0" smtClean="0"/>
              <a:t>Query engine</a:t>
            </a:r>
          </a:p>
          <a:p>
            <a:pPr lvl="2" algn="just"/>
            <a:r>
              <a:rPr lang="en-US" sz="2000" dirty="0" smtClean="0"/>
              <a:t>Transforms SQL queries into native HBase API calls</a:t>
            </a:r>
          </a:p>
          <a:p>
            <a:pPr lvl="2" algn="just"/>
            <a:r>
              <a:rPr lang="en-US" sz="2000" dirty="0" smtClean="0"/>
              <a:t>Pushes as much work as possible onto the cluster for parallel execution</a:t>
            </a:r>
          </a:p>
          <a:p>
            <a:pPr lvl="1" algn="just"/>
            <a:r>
              <a:rPr lang="en-US" sz="2400" dirty="0" smtClean="0"/>
              <a:t>Metadata repository</a:t>
            </a:r>
          </a:p>
          <a:p>
            <a:pPr lvl="2" algn="just"/>
            <a:r>
              <a:rPr lang="en-US" sz="2000" dirty="0" smtClean="0"/>
              <a:t>Typed access to data stored in HBase tables</a:t>
            </a:r>
          </a:p>
          <a:p>
            <a:pPr lvl="1" algn="just"/>
            <a:r>
              <a:rPr lang="en-US" sz="2400" dirty="0" smtClean="0"/>
              <a:t>A JDBC driver</a:t>
            </a:r>
          </a:p>
          <a:p>
            <a:pPr algn="just"/>
            <a:r>
              <a:rPr lang="en-US" sz="2800" dirty="0" smtClean="0"/>
              <a:t>A top level Apache Software Foundation project</a:t>
            </a:r>
          </a:p>
          <a:p>
            <a:pPr lvl="1" algn="just"/>
            <a:r>
              <a:rPr lang="en-US" sz="2400" dirty="0" smtClean="0"/>
              <a:t>Originally developed at </a:t>
            </a:r>
            <a:r>
              <a:rPr lang="en-US" sz="2400" dirty="0" err="1" smtClean="0"/>
              <a:t>Salesforce</a:t>
            </a:r>
            <a:endParaRPr lang="en-US" sz="2400" dirty="0" smtClean="0"/>
          </a:p>
          <a:p>
            <a:pPr lvl="1" algn="just"/>
            <a:r>
              <a:rPr lang="en-US" sz="2400" dirty="0" smtClean="0"/>
              <a:t>Now a top-level project at the ASF</a:t>
            </a:r>
          </a:p>
          <a:p>
            <a:pPr lvl="1" algn="just"/>
            <a:r>
              <a:rPr lang="en-US" sz="2400" dirty="0" smtClean="0"/>
              <a:t>A growing community with momentum</a:t>
            </a:r>
            <a:endParaRPr lang="en-US" sz="2800" dirty="0" smtClean="0"/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056954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Where Does Phoenix Fit In?</a:t>
            </a:r>
            <a:endParaRPr lang="en-US" sz="3600" dirty="0"/>
          </a:p>
        </p:txBody>
      </p:sp>
      <p:sp>
        <p:nvSpPr>
          <p:cNvPr id="6" name="Flowchart: Alternate Process 6"/>
          <p:cNvSpPr/>
          <p:nvPr/>
        </p:nvSpPr>
        <p:spPr bwMode="auto">
          <a:xfrm>
            <a:off x="538784" y="1154351"/>
            <a:ext cx="731520" cy="1235255"/>
          </a:xfrm>
          <a:prstGeom prst="flowChartAlternateProcess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</p:spPr>
        <p:txBody>
          <a:bodyPr vert="vert270" wrap="none" rtlCol="0" anchor="ctr"/>
          <a:lstStyle/>
          <a:p>
            <a:pPr algn="ctr" eaLnBrk="1" hangingPunct="1"/>
            <a:r>
              <a:rPr lang="en-US" sz="2000" dirty="0" err="1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Sqoop</a:t>
            </a:r>
            <a:r>
              <a:rPr lang="en-US" sz="20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 </a:t>
            </a:r>
            <a:endParaRPr lang="en-US" sz="1100" dirty="0" smtClean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algn="ctr" eaLnBrk="1" hangingPunct="1"/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RDB Data Collector</a:t>
            </a:r>
          </a:p>
        </p:txBody>
      </p:sp>
      <p:sp>
        <p:nvSpPr>
          <p:cNvPr id="7" name="Flowchart: Alternate Process 7"/>
          <p:cNvSpPr/>
          <p:nvPr/>
        </p:nvSpPr>
        <p:spPr bwMode="auto">
          <a:xfrm>
            <a:off x="525451" y="2435544"/>
            <a:ext cx="730414" cy="1249504"/>
          </a:xfrm>
          <a:prstGeom prst="flowChartAlternateProcess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</p:spPr>
        <p:txBody>
          <a:bodyPr vert="vert270" wrap="none" rtlCol="0" anchor="ctr"/>
          <a:lstStyle/>
          <a:p>
            <a:pPr algn="ctr" eaLnBrk="1" hangingPunct="1"/>
            <a:r>
              <a:rPr lang="en-US" sz="20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Flume </a:t>
            </a:r>
            <a:endParaRPr lang="en-US" sz="1100" dirty="0" smtClean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algn="ctr" eaLnBrk="1" hangingPunct="1"/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Log Data Collector</a:t>
            </a:r>
          </a:p>
        </p:txBody>
      </p:sp>
      <p:sp>
        <p:nvSpPr>
          <p:cNvPr id="8" name="Flowchart: Alternate Process 8"/>
          <p:cNvSpPr/>
          <p:nvPr/>
        </p:nvSpPr>
        <p:spPr bwMode="auto">
          <a:xfrm>
            <a:off x="7855485" y="1808520"/>
            <a:ext cx="731520" cy="1876427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vert270" wrap="none" rtlCol="0" anchor="ctr"/>
          <a:lstStyle/>
          <a:p>
            <a:pPr algn="ctr" eaLnBrk="1" hangingPunct="1"/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Zookeeper</a:t>
            </a:r>
            <a:endParaRPr lang="en-US" sz="1200" dirty="0" smtClean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algn="ctr" eaLnBrk="1" hangingPunct="1"/>
            <a:r>
              <a:rPr lang="en-US" sz="16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Coordination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3790755" y="1808521"/>
            <a:ext cx="2001484" cy="1243807"/>
          </a:xfrm>
          <a:prstGeom prst="roundRect">
            <a:avLst>
              <a:gd name="adj" fmla="val 7477"/>
            </a:avLst>
          </a:prstGeom>
          <a:solidFill>
            <a:schemeClr val="bg1">
              <a:lumMod val="6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YARN (MRv2)</a:t>
            </a:r>
            <a:endParaRPr lang="en-US" altLang="zh-CN" sz="12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algn="ctr" eaLnBrk="1" hangingPunct="1"/>
            <a:r>
              <a:rPr lang="en-US" altLang="zh-CN" sz="16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Cluster Resource Manager / MapReduce</a:t>
            </a:r>
            <a:endParaRPr lang="en-US" altLang="zh-CN" sz="16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1301523" y="3076329"/>
            <a:ext cx="6516731" cy="60861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4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HDFS </a:t>
            </a:r>
            <a:r>
              <a:rPr lang="en-US" altLang="zh-CN" sz="2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2.0</a:t>
            </a:r>
            <a:endParaRPr lang="en-US" altLang="zh-CN" sz="12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algn="ctr" eaLnBrk="1" hangingPunct="1"/>
            <a:r>
              <a:rPr lang="en-US" altLang="zh-CN" sz="1600" dirty="0" err="1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Hadoop</a:t>
            </a:r>
            <a:r>
              <a:rPr lang="en-US" altLang="zh-CN" sz="160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 Distributed File System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5702416" y="1154348"/>
            <a:ext cx="1417320" cy="61722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400" dirty="0" err="1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GraphX</a:t>
            </a:r>
            <a:endParaRPr lang="en-US" altLang="zh-CN" sz="2400" dirty="0" smtClean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algn="ctr" eaLnBrk="1" hangingPunct="1"/>
            <a:r>
              <a:rPr lang="en-US" altLang="zh-CN" sz="12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Graph analysis framework</a:t>
            </a:r>
            <a:endParaRPr lang="en-US" altLang="zh-CN" sz="8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1301524" y="1808518"/>
            <a:ext cx="2460415" cy="591254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0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Phoenix</a:t>
            </a:r>
          </a:p>
          <a:p>
            <a:pPr algn="ctr" eaLnBrk="1" hangingPunct="1"/>
            <a:r>
              <a:rPr lang="en-US" altLang="zh-CN" sz="1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Query execution engine</a:t>
            </a:r>
            <a:endParaRPr lang="en-US" altLang="zh-CN" sz="105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1301519" y="2435545"/>
            <a:ext cx="2460416" cy="60861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HBase</a:t>
            </a:r>
            <a:endParaRPr lang="en-US" altLang="zh-CN" sz="12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algn="ctr" eaLnBrk="1" hangingPunct="1"/>
            <a:r>
              <a:rPr lang="en-US" altLang="zh-CN" sz="1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Distributed Database</a:t>
            </a:r>
            <a:endParaRPr lang="en-US" altLang="zh-CN" sz="14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525456" y="3718542"/>
            <a:ext cx="6237347" cy="608616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The Java Virtual Machine</a:t>
            </a:r>
            <a:endParaRPr lang="en-US" altLang="zh-CN" sz="12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15" name="Flowchart: Alternate Process 15"/>
          <p:cNvSpPr/>
          <p:nvPr/>
        </p:nvSpPr>
        <p:spPr bwMode="auto">
          <a:xfrm>
            <a:off x="6817513" y="3718542"/>
            <a:ext cx="1769497" cy="608616"/>
          </a:xfrm>
          <a:prstGeom prst="flowChartAlternateProcess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 eaLnBrk="1" hangingPunct="1"/>
            <a:r>
              <a:rPr lang="en-US" sz="20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Hadoop</a:t>
            </a:r>
          </a:p>
          <a:p>
            <a:pPr algn="ctr" eaLnBrk="1" hangingPunct="1"/>
            <a:r>
              <a:rPr lang="en-US" sz="20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Common JNI</a:t>
            </a:r>
            <a:endParaRPr lang="en-US" sz="1200" dirty="0" smtClean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5816766" y="1808520"/>
            <a:ext cx="2001484" cy="1243807"/>
          </a:xfrm>
          <a:prstGeom prst="roundRect">
            <a:avLst>
              <a:gd name="adj" fmla="val 7477"/>
            </a:avLst>
          </a:prstGeom>
          <a:solidFill>
            <a:schemeClr val="bg1">
              <a:lumMod val="6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Spark</a:t>
            </a:r>
            <a:endParaRPr lang="en-US" altLang="zh-CN" sz="12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algn="ctr" eaLnBrk="1" hangingPunct="1"/>
            <a:r>
              <a:rPr lang="en-US" altLang="zh-CN" sz="16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Iterative In-Memory</a:t>
            </a:r>
          </a:p>
          <a:p>
            <a:pPr algn="ctr" eaLnBrk="1" hangingPunct="1"/>
            <a:r>
              <a:rPr lang="en-US" altLang="zh-CN" sz="16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Computation</a:t>
            </a:r>
            <a:endParaRPr lang="en-US" altLang="zh-CN" sz="16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17" name="Rounded Rectangle 16"/>
          <p:cNvSpPr/>
          <p:nvPr/>
        </p:nvSpPr>
        <p:spPr bwMode="auto">
          <a:xfrm>
            <a:off x="7169685" y="1154189"/>
            <a:ext cx="1417320" cy="61722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400" dirty="0" err="1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MLLib</a:t>
            </a:r>
            <a:endParaRPr lang="en-US" altLang="zh-CN" sz="2400" dirty="0" smtClean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algn="ctr" eaLnBrk="1" hangingPunct="1"/>
            <a:r>
              <a:rPr lang="en-US" altLang="zh-CN" sz="12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Data mining</a:t>
            </a:r>
            <a:endParaRPr lang="en-US" altLang="zh-CN" sz="8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2771053" y="1146632"/>
            <a:ext cx="1417320" cy="61722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Pig</a:t>
            </a:r>
          </a:p>
          <a:p>
            <a:pPr algn="ctr" eaLnBrk="1" hangingPunct="1"/>
            <a:r>
              <a:rPr lang="en-US" altLang="zh-CN" sz="12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Data Manipulation</a:t>
            </a:r>
            <a:endParaRPr lang="en-US" altLang="zh-CN" sz="8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4240587" y="1146793"/>
            <a:ext cx="1417320" cy="61722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Hive</a:t>
            </a:r>
          </a:p>
          <a:p>
            <a:pPr algn="ctr" eaLnBrk="1" hangingPunct="1"/>
            <a:r>
              <a:rPr lang="en-US" altLang="zh-CN" sz="12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Structured Query</a:t>
            </a:r>
            <a:endParaRPr lang="en-US" altLang="zh-CN" sz="80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24" name="Rounded Rectangle 23"/>
          <p:cNvSpPr/>
          <p:nvPr/>
        </p:nvSpPr>
        <p:spPr bwMode="auto">
          <a:xfrm>
            <a:off x="1301518" y="1146634"/>
            <a:ext cx="1426464" cy="617381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8100" algn="ctr">
            <a:noFill/>
            <a:miter lim="800000"/>
            <a:headEnd type="none" w="sm" len="sm"/>
            <a:tailEnd type="none" w="sm" len="sm"/>
          </a:ln>
        </p:spPr>
        <p:txBody>
          <a:bodyPr lIns="91431" tIns="45716" rIns="91431" bIns="45716" rtlCol="0" anchor="ctr"/>
          <a:lstStyle/>
          <a:p>
            <a:pPr algn="ctr" eaLnBrk="1" hangingPunct="1"/>
            <a:r>
              <a:rPr lang="en-US" altLang="zh-CN" sz="20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Phoenix</a:t>
            </a:r>
          </a:p>
          <a:p>
            <a:pPr algn="ctr" eaLnBrk="1" hangingPunct="1"/>
            <a:r>
              <a:rPr lang="en-US" altLang="zh-CN" sz="1400" dirty="0" smtClean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t>JDBC client</a:t>
            </a:r>
            <a:endParaRPr lang="en-US" altLang="zh-CN" sz="1050" dirty="0">
              <a:solidFill>
                <a:schemeClr val="bg1"/>
              </a:solidFill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884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State of the Union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5"/>
            <a:ext cx="8229600" cy="405063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Broad enough SQL support to run TPC queries</a:t>
            </a:r>
          </a:p>
          <a:p>
            <a:pPr lvl="1"/>
            <a:r>
              <a:rPr lang="en-US" sz="2400" dirty="0" smtClean="0"/>
              <a:t>Joins, Sub-queries, Derived tables, etc.</a:t>
            </a:r>
          </a:p>
          <a:p>
            <a:r>
              <a:rPr lang="en-US" sz="2800" dirty="0" smtClean="0"/>
              <a:t>Three different secondary indexing strategies</a:t>
            </a:r>
          </a:p>
          <a:p>
            <a:pPr lvl="1"/>
            <a:r>
              <a:rPr lang="en-US" sz="2400" dirty="0" smtClean="0"/>
              <a:t>Immutable for write-once/append only data </a:t>
            </a:r>
          </a:p>
          <a:p>
            <a:pPr lvl="1"/>
            <a:r>
              <a:rPr lang="en-US" sz="2400" dirty="0" smtClean="0"/>
              <a:t>Global for read-heavy mutable data</a:t>
            </a:r>
          </a:p>
          <a:p>
            <a:pPr lvl="1"/>
            <a:r>
              <a:rPr lang="en-US" sz="2400" dirty="0" smtClean="0"/>
              <a:t>Local for write-heavy mutable or immutable data</a:t>
            </a:r>
          </a:p>
          <a:p>
            <a:r>
              <a:rPr lang="en-US" sz="2800" dirty="0" smtClean="0"/>
              <a:t>Statistics driven parallel execution</a:t>
            </a:r>
          </a:p>
          <a:p>
            <a:r>
              <a:rPr lang="en-US" sz="2800" dirty="0" smtClean="0"/>
              <a:t>Tracing and metrics for Monitoring &amp; Management</a:t>
            </a:r>
          </a:p>
        </p:txBody>
      </p:sp>
    </p:spTree>
    <p:extLst>
      <p:ext uri="{BB962C8B-B14F-4D97-AF65-F5344CB8AC3E}">
        <p14:creationId xmlns:p14="http://schemas.microsoft.com/office/powerpoint/2010/main" val="28933358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cs typeface="Arial"/>
              </a:rPr>
              <a:t>About Maryann</a:t>
            </a:r>
            <a:endParaRPr lang="en-US" sz="3600" b="1" dirty="0"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5"/>
            <a:ext cx="8229600" cy="4050631"/>
          </a:xfrm>
        </p:spPr>
        <p:txBody>
          <a:bodyPr/>
          <a:lstStyle/>
          <a:p>
            <a:r>
              <a:rPr lang="en-US" sz="2800" dirty="0" smtClean="0">
                <a:solidFill>
                  <a:srgbClr val="000000"/>
                </a:solidFill>
              </a:rPr>
              <a:t>Software Engineer </a:t>
            </a:r>
            <a:r>
              <a:rPr lang="en-US" sz="2800" dirty="0">
                <a:solidFill>
                  <a:srgbClr val="000000"/>
                </a:solidFill>
              </a:rPr>
              <a:t>at </a:t>
            </a:r>
            <a:r>
              <a:rPr lang="en-US" sz="2800" dirty="0" smtClean="0">
                <a:solidFill>
                  <a:srgbClr val="000000"/>
                </a:solidFill>
              </a:rPr>
              <a:t>Intel</a:t>
            </a:r>
          </a:p>
          <a:p>
            <a:r>
              <a:rPr lang="en-US" sz="2800" dirty="0" smtClean="0">
                <a:solidFill>
                  <a:srgbClr val="000000"/>
                </a:solidFill>
              </a:rPr>
              <a:t>PMC Member </a:t>
            </a:r>
            <a:r>
              <a:rPr lang="en-US" sz="2800" dirty="0">
                <a:solidFill>
                  <a:srgbClr val="000000"/>
                </a:solidFill>
              </a:rPr>
              <a:t>of Apache Phoenix project</a:t>
            </a:r>
            <a:endParaRPr lang="en-US" sz="2800" dirty="0" smtClean="0"/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Joins, Subqueries, </a:t>
            </a:r>
            <a:r>
              <a:rPr lang="en-US" sz="2400" dirty="0" err="1" smtClean="0">
                <a:solidFill>
                  <a:srgbClr val="000000"/>
                </a:solidFill>
              </a:rPr>
              <a:t>Phoenix+Calcite</a:t>
            </a:r>
            <a:r>
              <a:rPr lang="en-US" sz="2400" dirty="0" smtClean="0">
                <a:solidFill>
                  <a:srgbClr val="000000"/>
                </a:solidFill>
              </a:rPr>
              <a:t> Integration, etc.</a:t>
            </a:r>
            <a:endParaRPr lang="en-US" sz="2400" dirty="0" smtClean="0"/>
          </a:p>
          <a:p>
            <a:r>
              <a:rPr lang="en-US" sz="2800" dirty="0" smtClean="0">
                <a:solidFill>
                  <a:srgbClr val="000000"/>
                </a:solidFill>
              </a:rPr>
              <a:t>IDH and Intel XML Libraries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The HBase part of Intel’s Distribution of Hadoop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XSLT compiler of Intel XML Libraries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42845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Join and Subquery Support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95975"/>
            <a:ext cx="8510399" cy="3704622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 smtClean="0"/>
              <a:t>Grammar: inner join; left/right/full outer join; cross join</a:t>
            </a:r>
          </a:p>
          <a:p>
            <a:r>
              <a:rPr lang="en-US" altLang="zh-CN" dirty="0" smtClean="0"/>
              <a:t>Additional: semi join; anti join</a:t>
            </a:r>
          </a:p>
          <a:p>
            <a:r>
              <a:rPr lang="en-US" altLang="zh-CN" dirty="0" smtClean="0"/>
              <a:t>Algorithms: hash-join; sort-merge-join</a:t>
            </a:r>
          </a:p>
          <a:p>
            <a:r>
              <a:rPr lang="en-US" altLang="zh-CN" dirty="0" smtClean="0"/>
              <a:t>Optimizations:</a:t>
            </a:r>
          </a:p>
          <a:p>
            <a:pPr lvl="1"/>
            <a:r>
              <a:rPr lang="en-US" altLang="zh-CN" dirty="0" smtClean="0"/>
              <a:t>Predicate push-down</a:t>
            </a:r>
          </a:p>
          <a:p>
            <a:pPr lvl="1"/>
            <a:r>
              <a:rPr lang="en-US" altLang="zh-CN" dirty="0" smtClean="0"/>
              <a:t>FK-to-PK join optimization</a:t>
            </a:r>
          </a:p>
          <a:p>
            <a:pPr lvl="1"/>
            <a:r>
              <a:rPr lang="en-US" altLang="zh-CN" dirty="0" smtClean="0"/>
              <a:t>Global index with missing data columns</a:t>
            </a:r>
          </a:p>
          <a:p>
            <a:pPr lvl="1"/>
            <a:r>
              <a:rPr lang="en-US" altLang="zh-CN" dirty="0" smtClean="0"/>
              <a:t>Correlated subquery rewrite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82476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TPC </a:t>
            </a:r>
            <a:r>
              <a:rPr lang="en-US" altLang="zh-CN" dirty="0"/>
              <a:t>Example 1</a:t>
            </a:r>
            <a:br>
              <a:rPr lang="en-US" altLang="zh-CN" dirty="0"/>
            </a:br>
            <a:r>
              <a:rPr lang="en-US" altLang="zh-CN" sz="3600" dirty="0"/>
              <a:t>Small-Quantity-Order Revenue Query (Q17)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8748"/>
            <a:ext cx="8229600" cy="182301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>
            <a:normAutofit fontScale="32500" lnSpcReduction="20000"/>
          </a:bodyPr>
          <a:lstStyle/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sum(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l_extendedprice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 / 7.0 as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avg_yearly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part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p_partkey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l_partkey</a:t>
            </a:r>
            <a:endParaRPr lang="en-US" altLang="zh-CN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and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p_brand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'[B]'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and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p_container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'[C]'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and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l_quantity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&lt; (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select 0.2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l_quantity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from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where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l_partkey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p_partkey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206671"/>
            <a:ext cx="8229600" cy="13724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1440" rIns="91440" bIns="91440" rtlCol="0">
            <a:normAutofit fontScale="3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CLIENT 4-WAY FULL SCAN OVER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endParaRPr lang="en-US" altLang="zh-CN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PARALLEL INNER JOIN TABLE 0</a:t>
            </a:r>
          </a:p>
          <a:p>
            <a:pPr marL="0" indent="0">
              <a:buFont typeface="Arial"/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CLIENT 1-WAY FULL SCAN OVER part</a:t>
            </a:r>
          </a:p>
          <a:p>
            <a:pPr marL="0" indent="0">
              <a:buFont typeface="Arial"/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 FILTER BY </a:t>
            </a:r>
            <a:r>
              <a:rPr lang="en-US" altLang="zh-CN" b="1" dirty="0" err="1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p_partkey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‘[B]’ AND </a:t>
            </a:r>
            <a:r>
              <a:rPr lang="en-US" altLang="zh-CN" b="1" dirty="0" err="1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p_container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‘[C]’</a:t>
            </a:r>
          </a:p>
          <a:p>
            <a:pPr marL="0" indent="0">
              <a:buFont typeface="Arial"/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PARALLEL INNER JOIN TABLE 1</a:t>
            </a:r>
          </a:p>
          <a:p>
            <a:pPr marL="0" indent="0">
              <a:buFont typeface="Arial"/>
              <a:buNone/>
            </a:pP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CLIENT 4-WAY FULL SCAN OVER </a:t>
            </a:r>
            <a:r>
              <a:rPr lang="en-US" altLang="zh-CN" b="1" dirty="0" err="1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endParaRPr lang="en-US" altLang="zh-CN" b="1" dirty="0" smtClean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SERVER AGGREGATE INTO DISTINCT ROWS BY </a:t>
            </a:r>
            <a:r>
              <a:rPr lang="en-US" altLang="zh-CN" b="1" dirty="0" err="1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l_partkey</a:t>
            </a:r>
            <a:endParaRPr lang="en-US" altLang="zh-CN" b="1" dirty="0" smtClean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AFTER-JOIN 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 FILTER 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altLang="zh-CN" b="1" dirty="0" err="1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l_quantity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$0</a:t>
            </a:r>
          </a:p>
          <a:p>
            <a:pPr marL="0" indent="0">
              <a:buFont typeface="Arial"/>
              <a:buNone/>
            </a:pPr>
            <a:endParaRPr lang="en-US" altLang="zh-CN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231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TPC Example 2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sz="3600" dirty="0"/>
              <a:t>Order Priority Checking Query (Q4)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3948"/>
            <a:ext cx="8229600" cy="183820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>
            <a:normAutofit fontScale="32500" lnSpcReduction="20000"/>
          </a:bodyPr>
          <a:lstStyle/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o_orderpriority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count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(*) as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order_count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orders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o_orderdate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&gt;= date '[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D]'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and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o_orderdate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&lt; date '[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D]'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 interval '3' month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and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exists (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select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where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l_orderkey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o_orderkey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l_commitdate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l_receiptdate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group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o_orderpriority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order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o_orderpriority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162217"/>
            <a:ext cx="8229600" cy="14169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1440" rIns="91440" bIns="91440" rtlCol="0">
            <a:normAutofit fontScale="3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CLIENT 4-WAY FULL SCAN OVER orders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SERVER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FILTER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o_orderdate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&gt;= ‘[D]’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o_orderdate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 ‘[D]’ + 3(d)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SERVER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AGGREGATE INTO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ORDERED DISTINCT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ROWS BY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o_orderpriority</a:t>
            </a:r>
            <a:endParaRPr lang="en-US" altLang="zh-CN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CLIENT MERGE SORT</a:t>
            </a:r>
          </a:p>
          <a:p>
            <a:pPr marL="0" indent="0">
              <a:buFont typeface="Arial"/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SKIP-SCAN 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TABLE 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-US" altLang="zh-CN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CLIENT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4-WAY FULL SCAN OVER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lineitem</a:t>
            </a:r>
            <a:endParaRPr lang="en-US" altLang="zh-CN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SERVER FILTER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l_commitdate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l_receiptdate</a:t>
            </a:r>
            <a:endParaRPr lang="en-US" altLang="zh-CN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DYNAMIC 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 FILTER 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altLang="zh-CN" b="1" dirty="0" err="1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o_orderkey</a:t>
            </a:r>
            <a:r>
              <a:rPr lang="en-US" altLang="zh-CN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altLang="zh-CN" b="1" dirty="0" err="1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l_orderkey</a:t>
            </a:r>
            <a:endParaRPr lang="en-US" altLang="zh-CN" b="1" dirty="0" smtClean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endParaRPr lang="en-US" altLang="zh-CN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456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Join support - what can't we do?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2" y="1273908"/>
            <a:ext cx="9015708" cy="3179618"/>
          </a:xfrm>
        </p:spPr>
        <p:txBody>
          <a:bodyPr/>
          <a:lstStyle/>
          <a:p>
            <a:r>
              <a:rPr lang="en-US" altLang="zh-CN" dirty="0" smtClean="0"/>
              <a:t>Nested Loop Join</a:t>
            </a:r>
          </a:p>
          <a:p>
            <a:r>
              <a:rPr lang="en-US" altLang="zh-CN" dirty="0" smtClean="0"/>
              <a:t>Statistics Guided Join Algorithm</a:t>
            </a:r>
          </a:p>
          <a:p>
            <a:pPr lvl="1"/>
            <a:r>
              <a:rPr lang="en-US" altLang="zh-CN" dirty="0" smtClean="0"/>
              <a:t>Smartly choose the smaller table for the build side</a:t>
            </a:r>
          </a:p>
          <a:p>
            <a:pPr lvl="1"/>
            <a:r>
              <a:rPr lang="en-US" altLang="zh-CN" dirty="0" smtClean="0"/>
              <a:t>Smartly switch between hash-join and sort-merge-join</a:t>
            </a:r>
          </a:p>
          <a:p>
            <a:pPr lvl="1"/>
            <a:r>
              <a:rPr lang="en-US" altLang="zh-CN" dirty="0" smtClean="0"/>
              <a:t>Smartly turn on/off FK-to-PK join optimization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88121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What’s </a:t>
            </a:r>
            <a:r>
              <a:rPr lang="en-US" sz="3600" dirty="0" smtClean="0"/>
              <a:t>New?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5"/>
            <a:ext cx="8229600" cy="88659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err="1"/>
              <a:t>HBase</a:t>
            </a:r>
            <a:r>
              <a:rPr lang="en-US" sz="2800" dirty="0"/>
              <a:t> 1.0 Support</a:t>
            </a:r>
          </a:p>
          <a:p>
            <a:r>
              <a:rPr lang="en-US" sz="2800" dirty="0" smtClean="0"/>
              <a:t>Functional Indexes</a:t>
            </a:r>
          </a:p>
        </p:txBody>
      </p:sp>
    </p:spTree>
    <p:extLst>
      <p:ext uri="{BB962C8B-B14F-4D97-AF65-F5344CB8AC3E}">
        <p14:creationId xmlns:p14="http://schemas.microsoft.com/office/powerpoint/2010/main" val="320646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Functional Indexes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5"/>
            <a:ext cx="8229600" cy="405063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Creating an index on an expression as opposed to just a column value. For example, the following will be a full table scan:</a:t>
            </a:r>
          </a:p>
          <a:p>
            <a:pPr marL="400050" lvl="1" indent="0">
              <a:buNone/>
            </a:pPr>
            <a:r>
              <a:rPr lang="en-US" sz="2400" b="1" dirty="0" smtClean="0"/>
              <a:t>SELECT </a:t>
            </a:r>
            <a:r>
              <a:rPr lang="en-US" sz="2400" b="1" dirty="0" smtClean="0"/>
              <a:t>AVG(</a:t>
            </a:r>
            <a:r>
              <a:rPr lang="en-US" sz="2400" b="1" dirty="0" err="1" smtClean="0"/>
              <a:t>response_time</a:t>
            </a:r>
            <a:r>
              <a:rPr lang="en-US" sz="2400" b="1" dirty="0" smtClean="0"/>
              <a:t>) </a:t>
            </a:r>
            <a:r>
              <a:rPr lang="en-US" sz="2400" b="1" dirty="0" smtClean="0"/>
              <a:t>FROM SERVER_METRICS</a:t>
            </a:r>
            <a:endParaRPr lang="en-US" sz="2400" b="1" dirty="0" smtClean="0"/>
          </a:p>
          <a:p>
            <a:pPr marL="400050" lvl="1" indent="0">
              <a:buNone/>
            </a:pPr>
            <a:r>
              <a:rPr lang="en-US" sz="2400" b="1" dirty="0" smtClean="0"/>
              <a:t>WHERE </a:t>
            </a:r>
            <a:r>
              <a:rPr lang="en-US" sz="2400" b="1" dirty="0" smtClean="0"/>
              <a:t>DAYOFMONTH(</a:t>
            </a:r>
            <a:r>
              <a:rPr lang="en-US" sz="2400" b="1" dirty="0" err="1" smtClean="0"/>
              <a:t>create_time</a:t>
            </a:r>
            <a:r>
              <a:rPr lang="en-US" sz="2400" b="1" dirty="0" smtClean="0"/>
              <a:t>) = 1</a:t>
            </a:r>
            <a:endParaRPr lang="en-US" sz="2400" b="1" dirty="0" smtClean="0"/>
          </a:p>
          <a:p>
            <a:pPr marL="457200" indent="-457200"/>
            <a:r>
              <a:rPr lang="en-US" dirty="0" smtClean="0">
                <a:solidFill>
                  <a:prstClr val="black"/>
                </a:solidFill>
              </a:rPr>
              <a:t>Adding the following functional index will </a:t>
            </a:r>
            <a:r>
              <a:rPr lang="en-US" dirty="0" smtClean="0">
                <a:solidFill>
                  <a:prstClr val="black"/>
                </a:solidFill>
              </a:rPr>
              <a:t>turn it into a range scan:</a:t>
            </a:r>
            <a:endParaRPr lang="en-US" dirty="0" smtClean="0">
              <a:solidFill>
                <a:prstClr val="black"/>
              </a:solidFill>
            </a:endParaRPr>
          </a:p>
          <a:p>
            <a:pPr marL="400050" lvl="1" indent="0">
              <a:buNone/>
            </a:pPr>
            <a:r>
              <a:rPr lang="en-US" sz="2400" b="1" dirty="0" smtClean="0">
                <a:solidFill>
                  <a:prstClr val="black"/>
                </a:solidFill>
              </a:rPr>
              <a:t>CREATE INDEX </a:t>
            </a:r>
            <a:r>
              <a:rPr lang="en-US" sz="2400" b="1" dirty="0" err="1" smtClean="0">
                <a:solidFill>
                  <a:prstClr val="black"/>
                </a:solidFill>
              </a:rPr>
              <a:t>day_of_month_idx</a:t>
            </a:r>
            <a:endParaRPr lang="en-US" sz="2400" b="1" dirty="0">
              <a:solidFill>
                <a:prstClr val="black"/>
              </a:solidFill>
            </a:endParaRPr>
          </a:p>
          <a:p>
            <a:pPr marL="400050" lvl="1" indent="0">
              <a:buNone/>
            </a:pPr>
            <a:r>
              <a:rPr lang="en-US" sz="2400" b="1" dirty="0" smtClean="0">
                <a:solidFill>
                  <a:prstClr val="black"/>
                </a:solidFill>
              </a:rPr>
              <a:t>ON </a:t>
            </a:r>
            <a:r>
              <a:rPr lang="en-US" sz="2400" b="1" dirty="0"/>
              <a:t>SERVER_METRICS </a:t>
            </a:r>
            <a:r>
              <a:rPr lang="en-US" sz="2400" b="1" dirty="0" smtClean="0">
                <a:solidFill>
                  <a:prstClr val="black"/>
                </a:solidFill>
              </a:rPr>
              <a:t>(DAYOFMONTH(</a:t>
            </a:r>
            <a:r>
              <a:rPr lang="en-US" sz="2400" b="1" dirty="0" err="1" smtClean="0">
                <a:solidFill>
                  <a:prstClr val="black"/>
                </a:solidFill>
              </a:rPr>
              <a:t>create_time</a:t>
            </a:r>
            <a:r>
              <a:rPr lang="en-US" sz="2400" b="1" dirty="0" smtClean="0">
                <a:solidFill>
                  <a:prstClr val="black"/>
                </a:solidFill>
              </a:rPr>
              <a:t>))</a:t>
            </a:r>
          </a:p>
          <a:p>
            <a:pPr marL="400050" lvl="1" indent="0">
              <a:buNone/>
            </a:pPr>
            <a:r>
              <a:rPr lang="en-US" sz="2400" b="1" dirty="0" smtClean="0">
                <a:solidFill>
                  <a:prstClr val="black"/>
                </a:solidFill>
              </a:rPr>
              <a:t>INCLUDE (</a:t>
            </a:r>
            <a:r>
              <a:rPr lang="en-US" sz="2400" b="1" dirty="0" err="1" smtClean="0">
                <a:solidFill>
                  <a:prstClr val="black"/>
                </a:solidFill>
              </a:rPr>
              <a:t>response_time</a:t>
            </a:r>
            <a:r>
              <a:rPr lang="en-US" sz="2400" b="1" dirty="0" smtClean="0">
                <a:solidFill>
                  <a:prstClr val="black"/>
                </a:solidFill>
              </a:rPr>
              <a:t>)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17264363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What’s New?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6"/>
            <a:ext cx="8229600" cy="1399658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err="1"/>
              <a:t>HBase</a:t>
            </a:r>
            <a:r>
              <a:rPr lang="en-US" sz="2800" dirty="0"/>
              <a:t> 1.0 Support</a:t>
            </a:r>
          </a:p>
          <a:p>
            <a:r>
              <a:rPr lang="en-US" sz="2800" dirty="0" smtClean="0"/>
              <a:t>Functional Indexes</a:t>
            </a:r>
          </a:p>
          <a:p>
            <a:r>
              <a:rPr lang="en-US" sz="2800" dirty="0" smtClean="0"/>
              <a:t>User 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6431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User Defined Functions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5"/>
            <a:ext cx="8229600" cy="4050631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E</a:t>
            </a:r>
            <a:r>
              <a:rPr lang="en-US" sz="2800" dirty="0" smtClean="0"/>
              <a:t>xtension points to Phoenix for domain-specific functions. For example, a geo-location application might load a set of UDFs like this:</a:t>
            </a:r>
          </a:p>
          <a:p>
            <a:pPr marL="400050" lvl="1" indent="0">
              <a:buNone/>
            </a:pPr>
            <a:r>
              <a:rPr lang="en-US" sz="2400" b="1" dirty="0" smtClean="0"/>
              <a:t>CREATE FUNCTION WOEID_DISTANCE(INTEGER,INTEGER) </a:t>
            </a:r>
          </a:p>
          <a:p>
            <a:pPr marL="400050" lvl="1" indent="0">
              <a:buNone/>
            </a:pPr>
            <a:r>
              <a:rPr lang="en-US" sz="2400" b="1" dirty="0" smtClean="0"/>
              <a:t>RETURNS INTEGER AS ‘</a:t>
            </a:r>
            <a:r>
              <a:rPr lang="en-US" sz="2400" b="1" dirty="0" err="1" smtClean="0"/>
              <a:t>org.apache.geo.woeidDistance</a:t>
            </a:r>
            <a:r>
              <a:rPr lang="en-US" sz="2400" b="1" dirty="0" smtClean="0"/>
              <a:t>’</a:t>
            </a:r>
          </a:p>
          <a:p>
            <a:pPr marL="400050" lvl="1" indent="0">
              <a:buNone/>
            </a:pPr>
            <a:r>
              <a:rPr lang="en-US" sz="2400" b="1" dirty="0" smtClean="0"/>
              <a:t>USING JAR ‘/lib/geo/</a:t>
            </a:r>
            <a:r>
              <a:rPr lang="en-US" sz="2400" b="1" dirty="0" err="1" smtClean="0"/>
              <a:t>geoloc.jar</a:t>
            </a:r>
            <a:r>
              <a:rPr lang="en-US" sz="2400" b="1" dirty="0" smtClean="0"/>
              <a:t>’</a:t>
            </a:r>
          </a:p>
          <a:p>
            <a:r>
              <a:rPr lang="en-US" sz="2800" dirty="0" smtClean="0"/>
              <a:t>Querying, functional indexing, etc. then possible:</a:t>
            </a:r>
          </a:p>
          <a:p>
            <a:pPr marL="400050" lvl="1" indent="0">
              <a:buNone/>
            </a:pPr>
            <a:r>
              <a:rPr lang="en-US" sz="2400" b="1" dirty="0" smtClean="0"/>
              <a:t>SELECT * FROM </a:t>
            </a:r>
            <a:r>
              <a:rPr lang="en-US" sz="2400" b="1" dirty="0" err="1" smtClean="0"/>
              <a:t>woeid</a:t>
            </a:r>
            <a:r>
              <a:rPr lang="en-US" sz="2400" b="1" dirty="0" smtClean="0"/>
              <a:t> a JOIN </a:t>
            </a:r>
            <a:r>
              <a:rPr lang="en-US" sz="2400" b="1" dirty="0" err="1" smtClean="0"/>
              <a:t>woeid</a:t>
            </a:r>
            <a:r>
              <a:rPr lang="en-US" sz="2400" b="1" dirty="0" smtClean="0"/>
              <a:t> b ON </a:t>
            </a:r>
            <a:r>
              <a:rPr lang="en-US" sz="2400" b="1" dirty="0" err="1" smtClean="0"/>
              <a:t>a.country</a:t>
            </a:r>
            <a:r>
              <a:rPr lang="en-US" sz="2400" b="1" dirty="0" smtClean="0"/>
              <a:t> = </a:t>
            </a:r>
            <a:r>
              <a:rPr lang="en-US" sz="2400" b="1" dirty="0" err="1" smtClean="0"/>
              <a:t>b.country</a:t>
            </a:r>
            <a:endParaRPr lang="en-US" sz="2400" b="1" dirty="0" smtClean="0"/>
          </a:p>
          <a:p>
            <a:pPr marL="400050" lvl="1" indent="0">
              <a:buNone/>
            </a:pPr>
            <a:r>
              <a:rPr lang="en-US" sz="2400" b="1" dirty="0" smtClean="0"/>
              <a:t>WHERE </a:t>
            </a:r>
            <a:r>
              <a:rPr lang="en-US" sz="2400" b="1" dirty="0" err="1" smtClean="0"/>
              <a:t>woeid_distance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a.ID,b.ID</a:t>
            </a:r>
            <a:r>
              <a:rPr lang="en-US" sz="2400" b="1" dirty="0" smtClean="0"/>
              <a:t>) &lt; 5</a:t>
            </a:r>
          </a:p>
        </p:txBody>
      </p:sp>
    </p:spTree>
    <p:extLst>
      <p:ext uri="{BB962C8B-B14F-4D97-AF65-F5344CB8AC3E}">
        <p14:creationId xmlns:p14="http://schemas.microsoft.com/office/powerpoint/2010/main" val="297255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What’s New?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6"/>
            <a:ext cx="8229600" cy="177163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err="1"/>
              <a:t>HBase</a:t>
            </a:r>
            <a:r>
              <a:rPr lang="en-US" sz="2800" dirty="0"/>
              <a:t> 1.0 Support</a:t>
            </a:r>
          </a:p>
          <a:p>
            <a:r>
              <a:rPr lang="en-US" sz="2800" dirty="0" smtClean="0"/>
              <a:t>Functional Indexes</a:t>
            </a:r>
          </a:p>
          <a:p>
            <a:r>
              <a:rPr lang="en-US" sz="2800" dirty="0" smtClean="0"/>
              <a:t>User Defined Functions</a:t>
            </a:r>
          </a:p>
          <a:p>
            <a:r>
              <a:rPr lang="en-US" sz="2800" dirty="0" smtClean="0"/>
              <a:t>Query Server with Thin Driver</a:t>
            </a:r>
          </a:p>
        </p:txBody>
      </p:sp>
    </p:spTree>
    <p:extLst>
      <p:ext uri="{BB962C8B-B14F-4D97-AF65-F5344CB8AC3E}">
        <p14:creationId xmlns:p14="http://schemas.microsoft.com/office/powerpoint/2010/main" val="264096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Query Server + Thin Driver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754" y="832185"/>
            <a:ext cx="8762332" cy="4050631"/>
          </a:xfrm>
        </p:spPr>
        <p:txBody>
          <a:bodyPr>
            <a:normAutofit fontScale="92500"/>
          </a:bodyPr>
          <a:lstStyle/>
          <a:p>
            <a:r>
              <a:rPr lang="en-US" sz="2800" dirty="0" smtClean="0"/>
              <a:t>Minimal client dependencies</a:t>
            </a:r>
          </a:p>
          <a:p>
            <a:pPr lvl="1"/>
            <a:r>
              <a:rPr lang="en-US" sz="2400" dirty="0"/>
              <a:t>Enabler for ODBC driver (not available yet, though)</a:t>
            </a:r>
          </a:p>
          <a:p>
            <a:r>
              <a:rPr lang="en-US" sz="2800" dirty="0" smtClean="0"/>
              <a:t>Offloads query planning and execution to different server(s)</a:t>
            </a:r>
          </a:p>
          <a:p>
            <a:r>
              <a:rPr lang="en-US" sz="2800" dirty="0" smtClean="0"/>
              <a:t>Connect like this instead:</a:t>
            </a:r>
          </a:p>
          <a:p>
            <a:pPr marL="400050" lvl="1" indent="0">
              <a:buNone/>
            </a:pPr>
            <a:r>
              <a:rPr lang="en-US" sz="2400" dirty="0" smtClean="0"/>
              <a:t>Connection conn = </a:t>
            </a:r>
            <a:r>
              <a:rPr lang="en-US" sz="2400" dirty="0" err="1" smtClean="0"/>
              <a:t>DriverManager.getConnection</a:t>
            </a:r>
            <a:r>
              <a:rPr lang="en-US" sz="2400" dirty="0" smtClean="0"/>
              <a:t>(</a:t>
            </a:r>
          </a:p>
          <a:p>
            <a:pPr marL="400050" lvl="1" indent="0">
              <a:buNone/>
            </a:pPr>
            <a:r>
              <a:rPr lang="en-US" sz="2400" b="1" dirty="0"/>
              <a:t>	</a:t>
            </a:r>
            <a:r>
              <a:rPr lang="en-US" sz="2400" b="1" dirty="0" smtClean="0"/>
              <a:t>	“</a:t>
            </a:r>
            <a:r>
              <a:rPr lang="en-US" sz="2400" b="1" dirty="0" err="1" smtClean="0"/>
              <a:t>jdbc:phoenix:thin:url</a:t>
            </a:r>
            <a:r>
              <a:rPr lang="en-US" sz="2400" b="1" dirty="0" smtClean="0"/>
              <a:t>=http://localhost:8765”</a:t>
            </a:r>
            <a:r>
              <a:rPr lang="en-US" sz="2400" dirty="0" smtClean="0"/>
              <a:t>);</a:t>
            </a:r>
          </a:p>
          <a:p>
            <a:r>
              <a:rPr lang="en-US" sz="2800" dirty="0" smtClean="0"/>
              <a:t>Still evolving, so </a:t>
            </a:r>
            <a:r>
              <a:rPr lang="en-US" sz="2800" b="1" dirty="0" smtClean="0"/>
              <a:t>no backward compatibility guarantees yet</a:t>
            </a:r>
          </a:p>
          <a:p>
            <a:r>
              <a:rPr lang="en-US" sz="2800" dirty="0" smtClean="0"/>
              <a:t>For </a:t>
            </a:r>
            <a:r>
              <a:rPr lang="en-US" sz="2800" dirty="0"/>
              <a:t>more information, see http://</a:t>
            </a:r>
            <a:r>
              <a:rPr lang="en-US" sz="2800" dirty="0" err="1"/>
              <a:t>phoenix.apache.org</a:t>
            </a:r>
            <a:r>
              <a:rPr lang="en-US" sz="2800" dirty="0"/>
              <a:t>/</a:t>
            </a:r>
            <a:r>
              <a:rPr lang="en-US" sz="2800" dirty="0" err="1"/>
              <a:t>server.html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447659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What’s New?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5"/>
            <a:ext cx="8229600" cy="4050631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err="1"/>
              <a:t>HBase</a:t>
            </a:r>
            <a:r>
              <a:rPr lang="en-US" sz="2800" dirty="0"/>
              <a:t> 1.0 Support</a:t>
            </a:r>
          </a:p>
          <a:p>
            <a:r>
              <a:rPr lang="en-US" sz="2800" dirty="0" smtClean="0"/>
              <a:t>Functional Indexes</a:t>
            </a:r>
          </a:p>
          <a:p>
            <a:r>
              <a:rPr lang="en-US" sz="2800" dirty="0" smtClean="0"/>
              <a:t>User Defined Functions</a:t>
            </a:r>
          </a:p>
          <a:p>
            <a:r>
              <a:rPr lang="en-US" sz="2800" dirty="0" smtClean="0"/>
              <a:t>Query Server with Thin Driver</a:t>
            </a:r>
          </a:p>
          <a:p>
            <a:r>
              <a:rPr lang="en-US" sz="2800" dirty="0" smtClean="0"/>
              <a:t>Union All support</a:t>
            </a:r>
          </a:p>
          <a:p>
            <a:r>
              <a:rPr lang="en-US" sz="2800" dirty="0"/>
              <a:t>T</a:t>
            </a:r>
            <a:r>
              <a:rPr lang="en-US" sz="2800" dirty="0" smtClean="0"/>
              <a:t>esting at scale with </a:t>
            </a:r>
            <a:r>
              <a:rPr lang="en-US" sz="2800" dirty="0" err="1" smtClean="0"/>
              <a:t>Pherf</a:t>
            </a:r>
            <a:endParaRPr lang="en-US" sz="2800" dirty="0" smtClean="0"/>
          </a:p>
          <a:p>
            <a:r>
              <a:rPr lang="en-US" sz="2800" dirty="0" smtClean="0"/>
              <a:t>MR index build</a:t>
            </a:r>
          </a:p>
          <a:p>
            <a:r>
              <a:rPr lang="en-US" sz="2800" dirty="0" smtClean="0"/>
              <a:t>Spark integration</a:t>
            </a:r>
          </a:p>
          <a:p>
            <a:r>
              <a:rPr lang="en-US" sz="2800" dirty="0" smtClean="0"/>
              <a:t>Date built-in functions – WEEK, DAYOFMONTH, etc.</a:t>
            </a:r>
          </a:p>
          <a:p>
            <a:r>
              <a:rPr lang="en-US" sz="2800" dirty="0"/>
              <a:t>T</a:t>
            </a:r>
            <a:r>
              <a:rPr lang="en-US" sz="2800" dirty="0" smtClean="0"/>
              <a:t>ransactions (WIP - will be in next release)</a:t>
            </a:r>
          </a:p>
        </p:txBody>
      </p:sp>
    </p:spTree>
    <p:extLst>
      <p:ext uri="{BB962C8B-B14F-4D97-AF65-F5344CB8AC3E}">
        <p14:creationId xmlns:p14="http://schemas.microsoft.com/office/powerpoint/2010/main" val="151990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Transactions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832185"/>
            <a:ext cx="8536057" cy="405063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Snapshot isolation</a:t>
            </a:r>
          </a:p>
          <a:p>
            <a:pPr lvl="1"/>
            <a:r>
              <a:rPr lang="en-US" sz="2400" dirty="0" smtClean="0"/>
              <a:t>using Tephra </a:t>
            </a:r>
            <a:r>
              <a:rPr lang="en-US" sz="2400" dirty="0"/>
              <a:t>(</a:t>
            </a:r>
            <a:r>
              <a:rPr lang="en-US" sz="2400" dirty="0">
                <a:hlinkClick r:id="rId3"/>
              </a:rPr>
              <a:t>http://tephra.io/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dirty="0" smtClean="0"/>
              <a:t>supports REPEABLE_READ isolation level</a:t>
            </a:r>
          </a:p>
          <a:p>
            <a:pPr lvl="1"/>
            <a:r>
              <a:rPr lang="en-US" sz="2400" dirty="0" smtClean="0"/>
              <a:t>allows reading of uncommitted data</a:t>
            </a:r>
            <a:endParaRPr lang="en-US" sz="2400" dirty="0" smtClean="0"/>
          </a:p>
          <a:p>
            <a:r>
              <a:rPr lang="en-US" sz="2800" dirty="0"/>
              <a:t>Optional</a:t>
            </a:r>
          </a:p>
          <a:p>
            <a:pPr lvl="1"/>
            <a:r>
              <a:rPr lang="en-US" sz="2400" dirty="0"/>
              <a:t>Enabled on a table by table basis</a:t>
            </a:r>
          </a:p>
          <a:p>
            <a:r>
              <a:rPr lang="en-US" sz="2800" dirty="0" smtClean="0"/>
              <a:t>Work in progress, but close to release</a:t>
            </a:r>
          </a:p>
          <a:p>
            <a:pPr lvl="1"/>
            <a:r>
              <a:rPr lang="en-US" sz="2400" dirty="0" smtClean="0"/>
              <a:t>Come by the Phoenix booth for a demo</a:t>
            </a:r>
            <a:endParaRPr lang="en-US" sz="2400" dirty="0"/>
          </a:p>
          <a:p>
            <a:pPr lvl="1"/>
            <a:r>
              <a:rPr lang="en-US" sz="2400" dirty="0" smtClean="0"/>
              <a:t>Try </a:t>
            </a:r>
            <a:r>
              <a:rPr lang="en-US" sz="2400" dirty="0"/>
              <a:t>our </a:t>
            </a:r>
            <a:r>
              <a:rPr lang="en-US" sz="2400" dirty="0" err="1"/>
              <a:t>txn</a:t>
            </a:r>
            <a:r>
              <a:rPr lang="en-US" sz="2400" dirty="0"/>
              <a:t> branch</a:t>
            </a:r>
          </a:p>
          <a:p>
            <a:pPr lvl="1"/>
            <a:r>
              <a:rPr lang="en-US" sz="2400" dirty="0" smtClean="0"/>
              <a:t>Will be available in next release</a:t>
            </a:r>
          </a:p>
        </p:txBody>
      </p:sp>
    </p:spTree>
    <p:extLst>
      <p:ext uri="{BB962C8B-B14F-4D97-AF65-F5344CB8AC3E}">
        <p14:creationId xmlns:p14="http://schemas.microsoft.com/office/powerpoint/2010/main" val="20684294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/>
          </p:cNvSpPr>
          <p:nvPr>
            <p:ph type="title"/>
          </p:nvPr>
        </p:nvSpPr>
        <p:spPr>
          <a:xfrm>
            <a:off x="1403648" y="103284"/>
            <a:ext cx="6408713" cy="720081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3300" dirty="0">
                <a:solidFill>
                  <a:srgbClr val="3C4353"/>
                </a:solidFill>
                <a:uFill>
                  <a:solidFill/>
                </a:uFill>
              </a:rPr>
              <a:t>Optimistic Concurrency Control</a:t>
            </a:r>
          </a:p>
        </p:txBody>
      </p:sp>
      <p:sp>
        <p:nvSpPr>
          <p:cNvPr id="122" name="Shape 122"/>
          <p:cNvSpPr/>
          <p:nvPr/>
        </p:nvSpPr>
        <p:spPr>
          <a:xfrm>
            <a:off x="384875" y="1075853"/>
            <a:ext cx="8544236" cy="3272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346769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sz="2400" dirty="0">
                <a:solidFill>
                  <a:srgbClr val="00882B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Avoids cost</a:t>
            </a:r>
            <a:r>
              <a:rPr sz="2400" dirty="0">
                <a:solidFill>
                  <a:srgbClr val="00882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sz="2400" dirty="0">
                <a:solidFill>
                  <a:srgbClr val="00882B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of locking</a:t>
            </a:r>
            <a:r>
              <a:rPr sz="2400"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rows and tables</a:t>
            </a:r>
          </a:p>
          <a:p>
            <a:pPr marL="346769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sz="2400" dirty="0">
                <a:solidFill>
                  <a:srgbClr val="00882B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No deadlocks</a:t>
            </a:r>
            <a:r>
              <a:rPr sz="2400"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or lock escalations</a:t>
            </a:r>
          </a:p>
          <a:p>
            <a:pPr marL="346769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sz="2400" dirty="0">
                <a:solidFill>
                  <a:srgbClr val="C82506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Cost of conflict</a:t>
            </a:r>
            <a:r>
              <a:rPr sz="2400" dirty="0">
                <a:solidFill>
                  <a:srgbClr val="19243E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 </a:t>
            </a:r>
            <a:r>
              <a:rPr sz="2400"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detection and possible rollback is higher</a:t>
            </a:r>
          </a:p>
          <a:p>
            <a:pPr marL="346769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sz="2400" dirty="0">
                <a:solidFill>
                  <a:srgbClr val="19243E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Good if</a:t>
            </a:r>
            <a:r>
              <a:rPr sz="2400"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sz="2400" dirty="0">
                <a:solidFill>
                  <a:srgbClr val="19243E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conflicts are rare</a:t>
            </a:r>
            <a:r>
              <a:rPr sz="2400"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: short transaction, disjoint partitioning of </a:t>
            </a:r>
            <a:r>
              <a:rPr sz="2400" dirty="0" smtClean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work</a:t>
            </a:r>
            <a:endParaRPr lang="en-US" sz="2400" dirty="0" smtClean="0">
              <a:solidFill>
                <a:srgbClr val="1924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346769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lang="en-US" sz="2400" dirty="0" smtClean="0">
                <a:solidFill>
                  <a:srgbClr val="19243E"/>
                </a:solidFill>
                <a:latin typeface="Helvetica Neue Medium"/>
                <a:ea typeface="Helvetica Neue Light"/>
                <a:cs typeface="Helvetica Neue Medium"/>
                <a:sym typeface="Helvetica Neue Light"/>
              </a:rPr>
              <a:t>Conflict detection not always necessary</a:t>
            </a:r>
            <a:r>
              <a:rPr lang="en-US" sz="2400" dirty="0" smtClean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: write-once/append-only data</a:t>
            </a:r>
            <a:endParaRPr sz="2400" dirty="0">
              <a:solidFill>
                <a:srgbClr val="1924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64653138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/>
          </p:cNvSpPr>
          <p:nvPr>
            <p:ph type="title"/>
          </p:nvPr>
        </p:nvSpPr>
        <p:spPr>
          <a:xfrm>
            <a:off x="1403648" y="668"/>
            <a:ext cx="6408713" cy="720081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3300" dirty="0">
                <a:solidFill>
                  <a:srgbClr val="3C4353"/>
                </a:solidFill>
                <a:uFill>
                  <a:solidFill/>
                </a:uFill>
              </a:rPr>
              <a:t>Tephra </a:t>
            </a:r>
            <a:r>
              <a:rPr sz="3300" dirty="0" smtClean="0">
                <a:solidFill>
                  <a:srgbClr val="3C4353"/>
                </a:solidFill>
                <a:uFill>
                  <a:solidFill/>
                </a:uFill>
              </a:rPr>
              <a:t>Architecture</a:t>
            </a:r>
            <a:endParaRPr sz="3300" dirty="0">
              <a:solidFill>
                <a:srgbClr val="3C4353"/>
              </a:solidFill>
              <a:uFill>
                <a:solidFill/>
              </a:u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403648" y="938808"/>
            <a:ext cx="6011620" cy="3217037"/>
            <a:chOff x="2880719" y="1254050"/>
            <a:chExt cx="3382562" cy="2223129"/>
          </a:xfrm>
        </p:grpSpPr>
        <p:sp>
          <p:nvSpPr>
            <p:cNvPr id="195" name="Shape 195"/>
            <p:cNvSpPr/>
            <p:nvPr/>
          </p:nvSpPr>
          <p:spPr>
            <a:xfrm>
              <a:off x="4700115" y="1254050"/>
              <a:ext cx="1053587" cy="318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53585F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 b="1" dirty="0">
                  <a:solidFill>
                    <a:schemeClr val="bg1"/>
                  </a:solidFill>
                </a:rPr>
                <a:t>ZooKeeper</a:t>
              </a:r>
            </a:p>
          </p:txBody>
        </p:sp>
        <p:sp>
          <p:nvSpPr>
            <p:cNvPr id="196" name="Shape 196"/>
            <p:cNvSpPr/>
            <p:nvPr/>
          </p:nvSpPr>
          <p:spPr>
            <a:xfrm flipH="1" flipV="1">
              <a:off x="5413211" y="1550357"/>
              <a:ext cx="310155" cy="252696"/>
            </a:xfrm>
            <a:prstGeom prst="line">
              <a:avLst/>
            </a:prstGeom>
            <a:ln w="38100">
              <a:solidFill/>
              <a:miter lim="400000"/>
              <a:tailEnd type="triangle"/>
            </a:ln>
          </p:spPr>
          <p:txBody>
            <a:bodyPr lIns="15240" tIns="15240" rIns="15240" bIns="15240" anchor="ctr"/>
            <a:lstStyle/>
            <a:p>
              <a:pPr algn="ctr" defTabSz="204788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97" name="Shape 197"/>
            <p:cNvSpPr/>
            <p:nvPr/>
          </p:nvSpPr>
          <p:spPr>
            <a:xfrm>
              <a:off x="5363367" y="1785432"/>
              <a:ext cx="708774" cy="439418"/>
            </a:xfrm>
            <a:prstGeom prst="rect">
              <a:avLst/>
            </a:prstGeom>
            <a:blipFill>
              <a:blip r:embed="rId2"/>
            </a:blipFill>
            <a:ln w="3175">
              <a:miter lim="400000"/>
            </a:ln>
            <a:effectLst>
              <a:outerShdw blurRad="12700" dist="12700" dir="2388334" rotWithShape="0">
                <a:srgbClr val="000000">
                  <a:alpha val="7931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/>
            <a:p>
              <a:pPr algn="ctr" defTabSz="204788">
                <a:defRPr sz="1800">
                  <a:solidFill>
                    <a:srgbClr val="000000"/>
                  </a:solidFill>
                  <a:uFillTx/>
                </a:defRPr>
              </a:pPr>
              <a:r>
                <a:rPr sz="900" b="1" dirty="0">
                  <a:solidFill>
                    <a:schemeClr val="bg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rPr>
                <a:t>Tx Manager</a:t>
              </a:r>
            </a:p>
            <a:p>
              <a:pPr algn="ctr" defTabSz="204788">
                <a:defRPr sz="1800">
                  <a:solidFill>
                    <a:srgbClr val="000000"/>
                  </a:solidFill>
                  <a:uFillTx/>
                </a:defRPr>
              </a:pPr>
              <a:r>
                <a:rPr sz="900" b="1" dirty="0">
                  <a:solidFill>
                    <a:schemeClr val="bg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rPr>
                <a:t>(standby)</a:t>
              </a:r>
            </a:p>
          </p:txBody>
        </p:sp>
        <p:sp>
          <p:nvSpPr>
            <p:cNvPr id="198" name="Shape 198"/>
            <p:cNvSpPr/>
            <p:nvPr/>
          </p:nvSpPr>
          <p:spPr>
            <a:xfrm>
              <a:off x="4190536" y="2373594"/>
              <a:ext cx="2072745" cy="1103585"/>
            </a:xfrm>
            <a:prstGeom prst="rect">
              <a:avLst/>
            </a:prstGeom>
            <a:solidFill>
              <a:srgbClr val="C0362B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/>
            <a:lstStyle>
              <a:lvl1pPr algn="ctr" defTabSz="546100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1400" b="1" dirty="0">
                  <a:solidFill>
                    <a:schemeClr val="bg1"/>
                  </a:solidFill>
                </a:rPr>
                <a:t>HBase</a:t>
              </a:r>
            </a:p>
          </p:txBody>
        </p:sp>
        <p:sp>
          <p:nvSpPr>
            <p:cNvPr id="199" name="Shape 199"/>
            <p:cNvSpPr/>
            <p:nvPr/>
          </p:nvSpPr>
          <p:spPr>
            <a:xfrm>
              <a:off x="4271253" y="2633934"/>
              <a:ext cx="536130" cy="318015"/>
            </a:xfrm>
            <a:prstGeom prst="rect">
              <a:avLst/>
            </a:prstGeom>
            <a:solidFill>
              <a:srgbClr val="A6AAA9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/>
                <a:t>Master 1</a:t>
              </a:r>
            </a:p>
          </p:txBody>
        </p:sp>
        <p:sp>
          <p:nvSpPr>
            <p:cNvPr id="200" name="Shape 200"/>
            <p:cNvSpPr/>
            <p:nvPr/>
          </p:nvSpPr>
          <p:spPr>
            <a:xfrm>
              <a:off x="4271253" y="3056880"/>
              <a:ext cx="536130" cy="318015"/>
            </a:xfrm>
            <a:prstGeom prst="rect">
              <a:avLst/>
            </a:prstGeom>
            <a:solidFill>
              <a:srgbClr val="A6AAA9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/>
                <a:t>Master 2	</a:t>
              </a:r>
            </a:p>
          </p:txBody>
        </p:sp>
        <p:sp>
          <p:nvSpPr>
            <p:cNvPr id="201" name="Shape 201"/>
            <p:cNvSpPr/>
            <p:nvPr/>
          </p:nvSpPr>
          <p:spPr>
            <a:xfrm>
              <a:off x="4958844" y="2633934"/>
              <a:ext cx="536130" cy="318015"/>
            </a:xfrm>
            <a:prstGeom prst="rect">
              <a:avLst/>
            </a:prstGeom>
            <a:solidFill>
              <a:srgbClr val="A6AAA9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/>
                <a:t>RS 1</a:t>
              </a:r>
            </a:p>
          </p:txBody>
        </p:sp>
        <p:sp>
          <p:nvSpPr>
            <p:cNvPr id="202" name="Shape 202"/>
            <p:cNvSpPr/>
            <p:nvPr/>
          </p:nvSpPr>
          <p:spPr>
            <a:xfrm>
              <a:off x="4958844" y="3056880"/>
              <a:ext cx="536130" cy="318015"/>
            </a:xfrm>
            <a:prstGeom prst="rect">
              <a:avLst/>
            </a:prstGeom>
            <a:solidFill>
              <a:srgbClr val="A6AAA9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/>
                <a:t>RS 2</a:t>
              </a:r>
            </a:p>
          </p:txBody>
        </p:sp>
        <p:sp>
          <p:nvSpPr>
            <p:cNvPr id="203" name="Shape 203"/>
            <p:cNvSpPr/>
            <p:nvPr/>
          </p:nvSpPr>
          <p:spPr>
            <a:xfrm>
              <a:off x="5646435" y="3056880"/>
              <a:ext cx="536130" cy="318015"/>
            </a:xfrm>
            <a:prstGeom prst="rect">
              <a:avLst/>
            </a:prstGeom>
            <a:solidFill>
              <a:srgbClr val="A6AAA9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/>
                <a:t>RS 4</a:t>
              </a:r>
            </a:p>
          </p:txBody>
        </p:sp>
        <p:sp>
          <p:nvSpPr>
            <p:cNvPr id="204" name="Shape 204"/>
            <p:cNvSpPr/>
            <p:nvPr/>
          </p:nvSpPr>
          <p:spPr>
            <a:xfrm>
              <a:off x="5646435" y="2633934"/>
              <a:ext cx="536130" cy="318015"/>
            </a:xfrm>
            <a:prstGeom prst="rect">
              <a:avLst/>
            </a:prstGeom>
            <a:solidFill>
              <a:srgbClr val="A6AAA9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/>
                <a:t>RS 3</a:t>
              </a:r>
            </a:p>
          </p:txBody>
        </p:sp>
        <p:sp>
          <p:nvSpPr>
            <p:cNvPr id="205" name="Shape 205"/>
            <p:cNvSpPr/>
            <p:nvPr/>
          </p:nvSpPr>
          <p:spPr>
            <a:xfrm flipV="1">
              <a:off x="3156460" y="2576459"/>
              <a:ext cx="0" cy="246976"/>
            </a:xfrm>
            <a:prstGeom prst="line">
              <a:avLst/>
            </a:prstGeom>
            <a:ln w="50800" cap="rnd">
              <a:solidFill/>
              <a:custDash>
                <a:ds d="100000" sp="200000"/>
              </a:custDash>
              <a:miter lim="400000"/>
            </a:ln>
          </p:spPr>
          <p:txBody>
            <a:bodyPr lIns="15240" tIns="15240" rIns="15240" bIns="15240" anchor="ctr"/>
            <a:lstStyle/>
            <a:p>
              <a:pPr algn="ctr" defTabSz="204788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206" name="Shape 206"/>
            <p:cNvSpPr/>
            <p:nvPr/>
          </p:nvSpPr>
          <p:spPr>
            <a:xfrm>
              <a:off x="2880719" y="1882365"/>
              <a:ext cx="551483" cy="273917"/>
            </a:xfrm>
            <a:prstGeom prst="roundRect">
              <a:avLst>
                <a:gd name="adj" fmla="val 22464"/>
              </a:avLst>
            </a:prstGeom>
            <a:blipFill>
              <a:blip r:embed="rId3"/>
            </a:blip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 b="1" dirty="0">
                  <a:solidFill>
                    <a:schemeClr val="bg1"/>
                  </a:solidFill>
                </a:rPr>
                <a:t>Client 1</a:t>
              </a:r>
            </a:p>
          </p:txBody>
        </p:sp>
        <p:sp>
          <p:nvSpPr>
            <p:cNvPr id="207" name="Shape 207"/>
            <p:cNvSpPr/>
            <p:nvPr/>
          </p:nvSpPr>
          <p:spPr>
            <a:xfrm>
              <a:off x="2880719" y="2239893"/>
              <a:ext cx="551483" cy="273917"/>
            </a:xfrm>
            <a:prstGeom prst="roundRect">
              <a:avLst>
                <a:gd name="adj" fmla="val 22464"/>
              </a:avLst>
            </a:prstGeom>
            <a:blipFill>
              <a:blip r:embed="rId3"/>
            </a:blip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 b="1" dirty="0">
                  <a:solidFill>
                    <a:schemeClr val="bg1"/>
                  </a:solidFill>
                </a:rPr>
                <a:t>Client 2</a:t>
              </a:r>
            </a:p>
          </p:txBody>
        </p:sp>
        <p:sp>
          <p:nvSpPr>
            <p:cNvPr id="208" name="Shape 208"/>
            <p:cNvSpPr/>
            <p:nvPr/>
          </p:nvSpPr>
          <p:spPr>
            <a:xfrm>
              <a:off x="2880719" y="2886083"/>
              <a:ext cx="551483" cy="273917"/>
            </a:xfrm>
            <a:prstGeom prst="roundRect">
              <a:avLst>
                <a:gd name="adj" fmla="val 22464"/>
              </a:avLst>
            </a:prstGeom>
            <a:blipFill>
              <a:blip r:embed="rId3"/>
            </a:blip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>
              <a:lvl1pPr algn="ctr" defTabSz="546100">
                <a:defRPr sz="24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900" b="1" dirty="0">
                  <a:solidFill>
                    <a:schemeClr val="bg1"/>
                  </a:solidFill>
                </a:rPr>
                <a:t>Client N</a:t>
              </a:r>
            </a:p>
          </p:txBody>
        </p:sp>
        <p:sp>
          <p:nvSpPr>
            <p:cNvPr id="209" name="Shape 209"/>
            <p:cNvSpPr/>
            <p:nvPr/>
          </p:nvSpPr>
          <p:spPr>
            <a:xfrm flipV="1">
              <a:off x="4735648" y="1558808"/>
              <a:ext cx="248784" cy="248784"/>
            </a:xfrm>
            <a:prstGeom prst="line">
              <a:avLst/>
            </a:prstGeom>
            <a:ln w="38100">
              <a:solidFill/>
              <a:miter lim="400000"/>
              <a:tailEnd type="triangle"/>
            </a:ln>
          </p:spPr>
          <p:txBody>
            <a:bodyPr lIns="15240" tIns="15240" rIns="15240" bIns="15240" anchor="ctr"/>
            <a:lstStyle/>
            <a:p>
              <a:pPr algn="ctr" defTabSz="204788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210" name="Shape 210"/>
            <p:cNvSpPr/>
            <p:nvPr/>
          </p:nvSpPr>
          <p:spPr>
            <a:xfrm>
              <a:off x="4381677" y="1785432"/>
              <a:ext cx="708773" cy="439418"/>
            </a:xfrm>
            <a:prstGeom prst="rect">
              <a:avLst/>
            </a:prstGeom>
            <a:blipFill>
              <a:blip r:embed="rId2"/>
            </a:blipFill>
            <a:ln w="3175">
              <a:miter lim="400000"/>
            </a:ln>
            <a:effectLst>
              <a:outerShdw blurRad="12700" dist="12700" dir="2388334" rotWithShape="0">
                <a:srgbClr val="000000">
                  <a:alpha val="7931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15240" tIns="15240" rIns="15240" bIns="15240" anchor="ctr"/>
            <a:lstStyle/>
            <a:p>
              <a:pPr algn="ctr" defTabSz="204788">
                <a:defRPr sz="1800">
                  <a:solidFill>
                    <a:srgbClr val="000000"/>
                  </a:solidFill>
                  <a:uFillTx/>
                </a:defRPr>
              </a:pPr>
              <a:r>
                <a:rPr sz="900" b="1" dirty="0">
                  <a:solidFill>
                    <a:schemeClr val="bg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rPr>
                <a:t>Tx Manager</a:t>
              </a:r>
            </a:p>
            <a:p>
              <a:pPr algn="ctr" defTabSz="204788">
                <a:defRPr sz="1800">
                  <a:solidFill>
                    <a:srgbClr val="000000"/>
                  </a:solidFill>
                  <a:uFillTx/>
                </a:defRPr>
              </a:pPr>
              <a:r>
                <a:rPr sz="900" b="1" dirty="0">
                  <a:solidFill>
                    <a:schemeClr val="bg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rPr>
                <a:t>(active)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3434032" y="1974066"/>
              <a:ext cx="948985" cy="0"/>
            </a:xfrm>
            <a:prstGeom prst="line">
              <a:avLst/>
            </a:prstGeom>
            <a:ln w="38100">
              <a:solidFill/>
              <a:miter lim="400000"/>
              <a:tailEnd type="triangle"/>
            </a:ln>
          </p:spPr>
          <p:txBody>
            <a:bodyPr lIns="15240" tIns="15240" rIns="15240" bIns="15240" anchor="ctr"/>
            <a:lstStyle/>
            <a:p>
              <a:pPr algn="ctr" defTabSz="204788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212" name="Shape 212"/>
            <p:cNvSpPr/>
            <p:nvPr/>
          </p:nvSpPr>
          <p:spPr>
            <a:xfrm>
              <a:off x="3436512" y="2023884"/>
              <a:ext cx="754760" cy="437390"/>
            </a:xfrm>
            <a:prstGeom prst="line">
              <a:avLst/>
            </a:prstGeom>
            <a:ln w="38100">
              <a:solidFill/>
              <a:miter lim="400000"/>
              <a:tailEnd type="triangle"/>
            </a:ln>
          </p:spPr>
          <p:txBody>
            <a:bodyPr lIns="15240" tIns="15240" rIns="15240" bIns="15240" anchor="ctr"/>
            <a:lstStyle/>
            <a:p>
              <a:pPr algn="ctr" defTabSz="204788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2378824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77225" y="793899"/>
            <a:ext cx="8095302" cy="3392482"/>
            <a:chOff x="6121822" y="2751098"/>
            <a:chExt cx="12816748" cy="6626030"/>
          </a:xfrm>
        </p:grpSpPr>
        <p:grpSp>
          <p:nvGrpSpPr>
            <p:cNvPr id="217" name="Group 217"/>
            <p:cNvGrpSpPr/>
            <p:nvPr/>
          </p:nvGrpSpPr>
          <p:grpSpPr>
            <a:xfrm>
              <a:off x="16268914" y="5145158"/>
              <a:ext cx="2669656" cy="3649451"/>
              <a:chOff x="450697" y="48486"/>
              <a:chExt cx="2669654" cy="3649450"/>
            </a:xfrm>
          </p:grpSpPr>
          <p:sp>
            <p:nvSpPr>
              <p:cNvPr id="215" name="Shape 215"/>
              <p:cNvSpPr/>
              <p:nvPr/>
            </p:nvSpPr>
            <p:spPr>
              <a:xfrm rot="4514628">
                <a:off x="-947383" y="1446566"/>
                <a:ext cx="3649450" cy="853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378" extrusionOk="0">
                    <a:moveTo>
                      <a:pt x="0" y="19378"/>
                    </a:moveTo>
                    <a:cubicBezTo>
                      <a:pt x="3820" y="4384"/>
                      <a:pt x="8374" y="-2222"/>
                      <a:pt x="12900" y="661"/>
                    </a:cubicBezTo>
                    <a:cubicBezTo>
                      <a:pt x="16004" y="2638"/>
                      <a:pt x="18985" y="9053"/>
                      <a:pt x="21600" y="19378"/>
                    </a:cubicBezTo>
                  </a:path>
                </a:pathLst>
              </a:cu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  <p:sp>
            <p:nvSpPr>
              <p:cNvPr id="216" name="Shape 216"/>
              <p:cNvSpPr/>
              <p:nvPr/>
            </p:nvSpPr>
            <p:spPr>
              <a:xfrm>
                <a:off x="1153134" y="1474508"/>
                <a:ext cx="1967217" cy="64821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1800">
                    <a:solidFill>
                      <a:srgbClr val="000000"/>
                    </a:solidFill>
                    <a:uFillTx/>
                  </a:defRPr>
                </a:pPr>
                <a:r>
                  <a:rPr dirty="0" smtClean="0">
                    <a:solidFill>
                      <a:srgbClr val="C82506"/>
                    </a:solidFill>
                    <a:latin typeface="Arial"/>
                    <a:ea typeface="+mj-ea"/>
                    <a:cs typeface="Arial"/>
                    <a:sym typeface="Helvetica"/>
                  </a:rPr>
                  <a:t>time</a:t>
                </a:r>
                <a:r>
                  <a:rPr lang="en-US" dirty="0" smtClean="0">
                    <a:solidFill>
                      <a:srgbClr val="C82506"/>
                    </a:solidFill>
                    <a:latin typeface="Arial"/>
                    <a:ea typeface="+mj-ea"/>
                    <a:cs typeface="Arial"/>
                    <a:sym typeface="Helvetica"/>
                  </a:rPr>
                  <a:t> </a:t>
                </a:r>
                <a:r>
                  <a:rPr dirty="0" smtClean="0">
                    <a:solidFill>
                      <a:srgbClr val="C82506"/>
                    </a:solidFill>
                    <a:latin typeface="Arial"/>
                    <a:ea typeface="+mj-ea"/>
                    <a:cs typeface="Arial"/>
                    <a:sym typeface="Helvetica"/>
                  </a:rPr>
                  <a:t>out</a:t>
                </a:r>
                <a:endParaRPr dirty="0">
                  <a:solidFill>
                    <a:srgbClr val="C82506"/>
                  </a:solidFill>
                  <a:latin typeface="Arial"/>
                  <a:ea typeface="+mj-ea"/>
                  <a:cs typeface="Arial"/>
                  <a:sym typeface="Helvetica"/>
                </a:endParaRPr>
              </a:p>
            </p:txBody>
          </p:sp>
        </p:grpSp>
        <p:sp>
          <p:nvSpPr>
            <p:cNvPr id="218" name="Shape 218"/>
            <p:cNvSpPr/>
            <p:nvPr/>
          </p:nvSpPr>
          <p:spPr>
            <a:xfrm>
              <a:off x="8370664" y="5420412"/>
              <a:ext cx="1" cy="1792983"/>
            </a:xfrm>
            <a:prstGeom prst="line">
              <a:avLst/>
            </a:prstGeom>
            <a:ln w="38100">
              <a:solidFill>
                <a:srgbClr val="164F86"/>
              </a:solidFill>
              <a:miter lim="400000"/>
              <a:tailEnd type="triangle"/>
            </a:ln>
          </p:spPr>
          <p:txBody>
            <a:bodyPr lIns="40640" tIns="40640" rIns="40640" bIns="40640" anchor="ctr"/>
            <a:lstStyle/>
            <a:p>
              <a:pPr algn="ctr" defTabSz="204783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defRPr>
              </a:pPr>
              <a:endParaRPr>
                <a:latin typeface="Arial"/>
                <a:cs typeface="Arial"/>
              </a:endParaRPr>
            </a:p>
          </p:txBody>
        </p:sp>
        <p:grpSp>
          <p:nvGrpSpPr>
            <p:cNvPr id="223" name="Group 223"/>
            <p:cNvGrpSpPr/>
            <p:nvPr/>
          </p:nvGrpSpPr>
          <p:grpSpPr>
            <a:xfrm>
              <a:off x="6121822" y="6408235"/>
              <a:ext cx="4379798" cy="1426647"/>
              <a:chOff x="-304665" y="-1"/>
              <a:chExt cx="4379796" cy="1426645"/>
            </a:xfrm>
          </p:grpSpPr>
          <p:sp>
            <p:nvSpPr>
              <p:cNvPr id="219" name="Shape 219"/>
              <p:cNvSpPr/>
              <p:nvPr/>
            </p:nvSpPr>
            <p:spPr>
              <a:xfrm>
                <a:off x="1189245" y="851479"/>
                <a:ext cx="1926233" cy="468373"/>
              </a:xfrm>
              <a:prstGeom prst="roundRect">
                <a:avLst>
                  <a:gd name="adj" fmla="val 29948"/>
                </a:avLst>
              </a:prstGeom>
              <a:blipFill rotWithShape="1">
                <a:blip r:embed="rId2"/>
                <a:srcRect/>
                <a:tile tx="0" ty="0" sx="100000" sy="100000" flip="none" algn="tl"/>
              </a:blipFill>
              <a:ln w="3175" cap="flat">
                <a:noFill/>
                <a:miter lim="400000"/>
              </a:ln>
              <a:effectLst>
                <a:outerShdw blurRad="50800" dist="63500" dir="2700000" rotWithShape="0">
                  <a:srgbClr val="000000">
                    <a:alpha val="50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2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  <a:effectLst/>
                  </a:defRPr>
                </a:pPr>
                <a:r>
                  <a:rPr sz="1200" b="1" dirty="0">
                    <a:solidFill>
                      <a:schemeClr val="bg1"/>
                    </a:solidFill>
                    <a:latin typeface="Arial"/>
                    <a:cs typeface="Arial"/>
                  </a:rPr>
                  <a:t>try abort</a:t>
                </a:r>
              </a:p>
            </p:txBody>
          </p:sp>
          <p:sp>
            <p:nvSpPr>
              <p:cNvPr id="220" name="Shape 220"/>
              <p:cNvSpPr/>
              <p:nvPr/>
            </p:nvSpPr>
            <p:spPr>
              <a:xfrm>
                <a:off x="3020294" y="221888"/>
                <a:ext cx="1054837" cy="3483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1800">
                    <a:solidFill>
                      <a:srgbClr val="C82506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</a:lstStyle>
              <a:p>
                <a:pPr lvl="0">
                  <a:defRPr>
                    <a:solidFill>
                      <a:srgbClr val="000000"/>
                    </a:solidFill>
                  </a:defRPr>
                </a:pPr>
                <a:r>
                  <a:rPr>
                    <a:solidFill>
                      <a:srgbClr val="C82506"/>
                    </a:solidFill>
                    <a:latin typeface="Arial"/>
                    <a:cs typeface="Arial"/>
                  </a:rPr>
                  <a:t>failed</a:t>
                </a:r>
              </a:p>
            </p:txBody>
          </p:sp>
          <p:sp>
            <p:nvSpPr>
              <p:cNvPr id="221" name="Shape 221"/>
              <p:cNvSpPr/>
              <p:nvPr/>
            </p:nvSpPr>
            <p:spPr>
              <a:xfrm flipH="1">
                <a:off x="2484967" y="-1"/>
                <a:ext cx="811164" cy="811164"/>
              </a:xfrm>
              <a:prstGeom prst="line">
                <a:avLst/>
              </a:pr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  <p:sp>
            <p:nvSpPr>
              <p:cNvPr id="222" name="Shape 222"/>
              <p:cNvSpPr/>
              <p:nvPr/>
            </p:nvSpPr>
            <p:spPr>
              <a:xfrm>
                <a:off x="-304665" y="794794"/>
                <a:ext cx="1169820" cy="6318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1800">
                    <a:solidFill>
                      <a:srgbClr val="000000"/>
                    </a:solidFill>
                    <a:uFillTx/>
                  </a:defRPr>
                </a:pPr>
                <a:r>
                  <a:rPr sz="1200" dirty="0">
                    <a:solidFill>
                      <a:srgbClr val="0365C0"/>
                    </a:solidFill>
                    <a:latin typeface="Arial"/>
                    <a:ea typeface="+mj-ea"/>
                    <a:cs typeface="Arial"/>
                    <a:sym typeface="Helvetica"/>
                  </a:rPr>
                  <a:t>roll back</a:t>
                </a:r>
              </a:p>
              <a:p>
                <a:pPr algn="ctr" defTabSz="204783">
                  <a:defRPr sz="1800">
                    <a:solidFill>
                      <a:srgbClr val="000000"/>
                    </a:solidFill>
                    <a:uFillTx/>
                  </a:defRPr>
                </a:pPr>
                <a:r>
                  <a:rPr sz="1200" dirty="0">
                    <a:solidFill>
                      <a:srgbClr val="0365C0"/>
                    </a:solidFill>
                    <a:latin typeface="Arial"/>
                    <a:ea typeface="+mj-ea"/>
                    <a:cs typeface="Arial"/>
                    <a:sym typeface="Helvetica"/>
                  </a:rPr>
                  <a:t>in HBase</a:t>
                </a:r>
              </a:p>
            </p:txBody>
          </p:sp>
        </p:grpSp>
        <p:grpSp>
          <p:nvGrpSpPr>
            <p:cNvPr id="228" name="Group 228"/>
            <p:cNvGrpSpPr/>
            <p:nvPr/>
          </p:nvGrpSpPr>
          <p:grpSpPr>
            <a:xfrm>
              <a:off x="6357811" y="4297190"/>
              <a:ext cx="3184155" cy="1569812"/>
              <a:chOff x="0" y="0"/>
              <a:chExt cx="3184153" cy="1569811"/>
            </a:xfrm>
          </p:grpSpPr>
          <p:sp>
            <p:nvSpPr>
              <p:cNvPr id="224" name="Shape 224"/>
              <p:cNvSpPr/>
              <p:nvPr/>
            </p:nvSpPr>
            <p:spPr>
              <a:xfrm rot="5400000">
                <a:off x="-25684" y="235843"/>
                <a:ext cx="1359652" cy="13082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5552" h="20680" extrusionOk="0">
                    <a:moveTo>
                      <a:pt x="10479" y="0"/>
                    </a:moveTo>
                    <a:cubicBezTo>
                      <a:pt x="18254" y="3922"/>
                      <a:pt x="16709" y="19712"/>
                      <a:pt x="8459" y="20639"/>
                    </a:cubicBezTo>
                    <a:cubicBezTo>
                      <a:pt x="-91" y="21600"/>
                      <a:pt x="-3346" y="5569"/>
                      <a:pt x="4319" y="243"/>
                    </a:cubicBezTo>
                  </a:path>
                </a:pathLst>
              </a:cu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  <p:sp>
            <p:nvSpPr>
              <p:cNvPr id="225" name="Shape 225"/>
              <p:cNvSpPr/>
              <p:nvPr/>
            </p:nvSpPr>
            <p:spPr>
              <a:xfrm>
                <a:off x="207838" y="431588"/>
                <a:ext cx="903587" cy="9153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1800">
                    <a:solidFill>
                      <a:srgbClr val="000000"/>
                    </a:solidFill>
                    <a:uFillTx/>
                  </a:defRPr>
                </a:pPr>
                <a:r>
                  <a:rPr sz="1200" dirty="0">
                    <a:solidFill>
                      <a:srgbClr val="0365C0"/>
                    </a:solidFill>
                    <a:latin typeface="Arial"/>
                    <a:ea typeface="+mj-ea"/>
                    <a:cs typeface="Arial"/>
                    <a:sym typeface="Helvetica"/>
                  </a:rPr>
                  <a:t>write</a:t>
                </a:r>
              </a:p>
              <a:p>
                <a:pPr algn="ctr" defTabSz="204783">
                  <a:defRPr sz="1800">
                    <a:solidFill>
                      <a:srgbClr val="000000"/>
                    </a:solidFill>
                    <a:uFillTx/>
                  </a:defRPr>
                </a:pPr>
                <a:r>
                  <a:rPr sz="1200" dirty="0">
                    <a:solidFill>
                      <a:srgbClr val="0365C0"/>
                    </a:solidFill>
                    <a:latin typeface="Arial"/>
                    <a:ea typeface="+mj-ea"/>
                    <a:cs typeface="Arial"/>
                    <a:sym typeface="Helvetica"/>
                  </a:rPr>
                  <a:t>to</a:t>
                </a:r>
              </a:p>
              <a:p>
                <a:pPr algn="ctr" defTabSz="204783">
                  <a:defRPr sz="1800">
                    <a:solidFill>
                      <a:srgbClr val="000000"/>
                    </a:solidFill>
                    <a:uFillTx/>
                  </a:defRPr>
                </a:pPr>
                <a:r>
                  <a:rPr sz="1200" dirty="0">
                    <a:solidFill>
                      <a:srgbClr val="0365C0"/>
                    </a:solidFill>
                    <a:latin typeface="Arial"/>
                    <a:ea typeface="+mj-ea"/>
                    <a:cs typeface="Arial"/>
                    <a:sym typeface="Helvetica"/>
                  </a:rPr>
                  <a:t>HBase</a:t>
                </a:r>
              </a:p>
            </p:txBody>
          </p:sp>
          <p:sp>
            <p:nvSpPr>
              <p:cNvPr id="226" name="Shape 226"/>
              <p:cNvSpPr/>
              <p:nvPr/>
            </p:nvSpPr>
            <p:spPr>
              <a:xfrm>
                <a:off x="1257921" y="622805"/>
                <a:ext cx="1926233" cy="468373"/>
              </a:xfrm>
              <a:prstGeom prst="roundRect">
                <a:avLst>
                  <a:gd name="adj" fmla="val 29948"/>
                </a:avLst>
              </a:prstGeom>
              <a:blipFill rotWithShape="1">
                <a:blip r:embed="rId2"/>
                <a:srcRect/>
                <a:tile tx="0" ty="0" sx="100000" sy="100000" flip="none" algn="tl"/>
              </a:blipFill>
              <a:ln w="3175" cap="flat">
                <a:noFill/>
                <a:miter lim="400000"/>
              </a:ln>
              <a:effectLst>
                <a:outerShdw blurRad="50800" dist="63500" dir="2700000" rotWithShape="0">
                  <a:srgbClr val="000000">
                    <a:alpha val="50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2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  <a:effectLst/>
                  </a:defRPr>
                </a:pPr>
                <a:r>
                  <a:rPr sz="1200" b="1" dirty="0">
                    <a:solidFill>
                      <a:schemeClr val="bg1"/>
                    </a:solidFill>
                    <a:latin typeface="Arial"/>
                    <a:cs typeface="Arial"/>
                  </a:rPr>
                  <a:t>do work</a:t>
                </a:r>
              </a:p>
            </p:txBody>
          </p:sp>
          <p:sp>
            <p:nvSpPr>
              <p:cNvPr id="227" name="Shape 227"/>
              <p:cNvSpPr/>
              <p:nvPr/>
            </p:nvSpPr>
            <p:spPr>
              <a:xfrm>
                <a:off x="2012853" y="0"/>
                <a:ext cx="1" cy="578240"/>
              </a:xfrm>
              <a:prstGeom prst="line">
                <a:avLst/>
              </a:pr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</p:grpSp>
        <p:sp>
          <p:nvSpPr>
            <p:cNvPr id="229" name="Shape 229"/>
            <p:cNvSpPr/>
            <p:nvPr/>
          </p:nvSpPr>
          <p:spPr>
            <a:xfrm>
              <a:off x="7882139" y="2808650"/>
              <a:ext cx="1064295" cy="7013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anchor="ctr">
              <a:spAutoFit/>
            </a:bodyPr>
            <a:lstStyle>
              <a:lvl1pPr algn="ctr" defTabSz="546100">
                <a:defRPr sz="2600">
                  <a:solidFill>
                    <a:srgbClr val="0365C0"/>
                  </a:solidFill>
                  <a:uFillTx/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>
                  <a:latin typeface="Arial"/>
                  <a:cs typeface="Arial"/>
                </a:rPr>
                <a:t>Client</a:t>
              </a:r>
            </a:p>
          </p:txBody>
        </p:sp>
        <p:sp>
          <p:nvSpPr>
            <p:cNvPr id="230" name="Shape 230"/>
            <p:cNvSpPr/>
            <p:nvPr/>
          </p:nvSpPr>
          <p:spPr>
            <a:xfrm>
              <a:off x="14086607" y="2751098"/>
              <a:ext cx="2079843" cy="7013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anchor="ctr">
              <a:spAutoFit/>
            </a:bodyPr>
            <a:lstStyle>
              <a:lvl1pPr algn="ctr" defTabSz="546100">
                <a:defRPr sz="2600">
                  <a:solidFill>
                    <a:srgbClr val="5F327C"/>
                  </a:solidFill>
                  <a:uFillTx/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>
                  <a:latin typeface="Arial"/>
                  <a:cs typeface="Arial"/>
                </a:rPr>
                <a:t>Tx Manager</a:t>
              </a:r>
            </a:p>
          </p:txBody>
        </p:sp>
        <p:grpSp>
          <p:nvGrpSpPr>
            <p:cNvPr id="234" name="Group 234"/>
            <p:cNvGrpSpPr/>
            <p:nvPr/>
          </p:nvGrpSpPr>
          <p:grpSpPr>
            <a:xfrm>
              <a:off x="13550115" y="6336274"/>
              <a:ext cx="2550094" cy="2163283"/>
              <a:chOff x="-264043" y="0"/>
              <a:chExt cx="2550093" cy="2163281"/>
            </a:xfrm>
          </p:grpSpPr>
          <p:sp>
            <p:nvSpPr>
              <p:cNvPr id="231" name="Shape 231"/>
              <p:cNvSpPr/>
              <p:nvPr/>
            </p:nvSpPr>
            <p:spPr>
              <a:xfrm flipH="1">
                <a:off x="1312368" y="0"/>
                <a:ext cx="1" cy="1585951"/>
              </a:xfrm>
              <a:prstGeom prst="line">
                <a:avLst/>
              </a:pr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  <p:sp>
            <p:nvSpPr>
              <p:cNvPr id="232" name="Shape 232"/>
              <p:cNvSpPr/>
              <p:nvPr/>
            </p:nvSpPr>
            <p:spPr>
              <a:xfrm>
                <a:off x="-264043" y="485473"/>
                <a:ext cx="1938627" cy="3483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1800">
                    <a:solidFill>
                      <a:srgbClr val="00882B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</a:lstStyle>
              <a:p>
                <a:pPr lvl="0">
                  <a:defRPr>
                    <a:solidFill>
                      <a:srgbClr val="000000"/>
                    </a:solidFill>
                  </a:defRPr>
                </a:pPr>
                <a:r>
                  <a:rPr dirty="0">
                    <a:solidFill>
                      <a:srgbClr val="00882B"/>
                    </a:solidFill>
                    <a:latin typeface="Arial"/>
                    <a:cs typeface="Arial"/>
                  </a:rPr>
                  <a:t>none</a:t>
                </a:r>
              </a:p>
            </p:txBody>
          </p:sp>
          <p:sp>
            <p:nvSpPr>
              <p:cNvPr id="233" name="Shape 233"/>
              <p:cNvSpPr/>
              <p:nvPr/>
            </p:nvSpPr>
            <p:spPr>
              <a:xfrm>
                <a:off x="395987" y="1663960"/>
                <a:ext cx="1890063" cy="499321"/>
              </a:xfrm>
              <a:prstGeom prst="rect">
                <a:avLst/>
              </a:prstGeom>
              <a:solidFill>
                <a:srgbClr val="DCDEE0"/>
              </a:solidFill>
              <a:ln w="12700" cap="flat">
                <a:solidFill>
                  <a:srgbClr val="53585F"/>
                </a:solidFill>
                <a:prstDash val="solid"/>
                <a:miter lim="400000"/>
              </a:ln>
              <a:effectLst>
                <a:outerShdw blurRad="25400" dist="12700" dir="5400000" rotWithShape="0">
                  <a:srgbClr val="000000">
                    <a:alpha val="50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1800">
                    <a:solidFill>
                      <a:srgbClr val="000000"/>
                    </a:solidFill>
                    <a:uFillTx/>
                  </a:defRPr>
                </a:pPr>
                <a:r>
                  <a:rPr sz="900">
                    <a:latin typeface="Arial"/>
                    <a:ea typeface="Gill Sans"/>
                    <a:cs typeface="Arial"/>
                    <a:sym typeface="Gill Sans"/>
                  </a:rPr>
                  <a:t>complete </a:t>
                </a:r>
                <a:r>
                  <a:rPr sz="900">
                    <a:solidFill>
                      <a:srgbClr val="00882B"/>
                    </a:solidFill>
                    <a:latin typeface="Arial"/>
                    <a:ea typeface="Gill Sans SemiBold"/>
                    <a:cs typeface="Arial"/>
                    <a:sym typeface="Gill Sans SemiBold"/>
                  </a:rPr>
                  <a:t>V</a:t>
                </a: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8418377" y="7712382"/>
              <a:ext cx="5731406" cy="593074"/>
              <a:chOff x="-52416" y="-116353"/>
              <a:chExt cx="5731404" cy="593073"/>
            </a:xfrm>
          </p:grpSpPr>
          <p:sp>
            <p:nvSpPr>
              <p:cNvPr id="235" name="Shape 235"/>
              <p:cNvSpPr/>
              <p:nvPr/>
            </p:nvSpPr>
            <p:spPr>
              <a:xfrm>
                <a:off x="3135871" y="-42452"/>
                <a:ext cx="1938627" cy="3483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1800" b="1">
                    <a:solidFill>
                      <a:srgbClr val="00882B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</a:lstStyle>
              <a:p>
                <a:pPr lvl="0">
                  <a:defRPr b="0">
                    <a:solidFill>
                      <a:srgbClr val="000000"/>
                    </a:solidFill>
                  </a:defRPr>
                </a:pPr>
                <a:r>
                  <a:rPr b="1" dirty="0">
                    <a:solidFill>
                      <a:srgbClr val="00882B"/>
                    </a:solidFill>
                    <a:latin typeface="Arial"/>
                    <a:cs typeface="Arial"/>
                  </a:rPr>
                  <a:t>abort</a:t>
                </a:r>
              </a:p>
            </p:txBody>
          </p:sp>
          <p:sp>
            <p:nvSpPr>
              <p:cNvPr id="236" name="Shape 236"/>
              <p:cNvSpPr/>
              <p:nvPr/>
            </p:nvSpPr>
            <p:spPr>
              <a:xfrm rot="183851">
                <a:off x="-52416" y="98863"/>
                <a:ext cx="5731404" cy="3778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362" extrusionOk="0">
                    <a:moveTo>
                      <a:pt x="0" y="0"/>
                    </a:moveTo>
                    <a:cubicBezTo>
                      <a:pt x="634" y="5582"/>
                      <a:pt x="1314" y="10001"/>
                      <a:pt x="2025" y="13158"/>
                    </a:cubicBezTo>
                    <a:cubicBezTo>
                      <a:pt x="3923" y="21600"/>
                      <a:pt x="5938" y="20773"/>
                      <a:pt x="7926" y="19710"/>
                    </a:cubicBezTo>
                    <a:cubicBezTo>
                      <a:pt x="12487" y="17270"/>
                      <a:pt x="17045" y="13960"/>
                      <a:pt x="21600" y="9780"/>
                    </a:cubicBezTo>
                  </a:path>
                </a:pathLst>
              </a:cu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  <p:sp>
            <p:nvSpPr>
              <p:cNvPr id="237" name="Shape 237"/>
              <p:cNvSpPr/>
              <p:nvPr/>
            </p:nvSpPr>
            <p:spPr>
              <a:xfrm>
                <a:off x="803868" y="-116353"/>
                <a:ext cx="1938627" cy="34832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1800">
                    <a:solidFill>
                      <a:srgbClr val="00882B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</a:lstStyle>
              <a:p>
                <a:pPr lvl="0">
                  <a:defRPr>
                    <a:solidFill>
                      <a:srgbClr val="000000"/>
                    </a:solidFill>
                  </a:defRPr>
                </a:pPr>
                <a:r>
                  <a:rPr dirty="0">
                    <a:solidFill>
                      <a:srgbClr val="00882B"/>
                    </a:solidFill>
                    <a:latin typeface="Arial"/>
                    <a:cs typeface="Arial"/>
                  </a:rPr>
                  <a:t>succeeded</a:t>
                </a:r>
              </a:p>
            </p:txBody>
          </p:sp>
        </p:grpSp>
        <p:grpSp>
          <p:nvGrpSpPr>
            <p:cNvPr id="246" name="Group 246"/>
            <p:cNvGrpSpPr/>
            <p:nvPr/>
          </p:nvGrpSpPr>
          <p:grpSpPr>
            <a:xfrm>
              <a:off x="7615733" y="3392404"/>
              <a:ext cx="8517595" cy="1875896"/>
              <a:chOff x="0" y="-293394"/>
              <a:chExt cx="8517593" cy="1875895"/>
            </a:xfrm>
          </p:grpSpPr>
          <p:sp>
            <p:nvSpPr>
              <p:cNvPr id="239" name="Shape 239"/>
              <p:cNvSpPr/>
              <p:nvPr/>
            </p:nvSpPr>
            <p:spPr>
              <a:xfrm>
                <a:off x="6559470" y="1083180"/>
                <a:ext cx="1890062" cy="499321"/>
              </a:xfrm>
              <a:prstGeom prst="rect">
                <a:avLst/>
              </a:prstGeom>
              <a:solidFill>
                <a:srgbClr val="DCDEE0"/>
              </a:solidFill>
              <a:ln w="12700" cap="flat">
                <a:solidFill>
                  <a:srgbClr val="53585F"/>
                </a:solidFill>
                <a:prstDash val="solid"/>
                <a:miter lim="400000"/>
              </a:ln>
              <a:effectLst>
                <a:outerShdw blurRad="25400" dist="12700" dir="5400000" rotWithShape="0">
                  <a:srgbClr val="000000">
                    <a:alpha val="50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2500">
                    <a:solidFill>
                      <a:srgbClr val="000000"/>
                    </a:solidFill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 lvl="0">
                  <a:defRPr sz="1800"/>
                </a:pPr>
                <a:r>
                  <a:rPr sz="900">
                    <a:latin typeface="Arial"/>
                    <a:cs typeface="Arial"/>
                  </a:rPr>
                  <a:t>in progress</a:t>
                </a:r>
              </a:p>
            </p:txBody>
          </p:sp>
          <p:grpSp>
            <p:nvGrpSpPr>
              <p:cNvPr id="245" name="Group 245"/>
              <p:cNvGrpSpPr/>
              <p:nvPr/>
            </p:nvGrpSpPr>
            <p:grpSpPr>
              <a:xfrm>
                <a:off x="0" y="-293394"/>
                <a:ext cx="8517593" cy="1367539"/>
                <a:chOff x="0" y="-293393"/>
                <a:chExt cx="8517592" cy="1367537"/>
              </a:xfrm>
            </p:grpSpPr>
            <p:sp>
              <p:nvSpPr>
                <p:cNvPr id="240" name="Shape 240"/>
                <p:cNvSpPr/>
                <p:nvPr/>
              </p:nvSpPr>
              <p:spPr>
                <a:xfrm>
                  <a:off x="7482499" y="561389"/>
                  <a:ext cx="1" cy="512755"/>
                </a:xfrm>
                <a:prstGeom prst="line">
                  <a:avLst/>
                </a:prstGeom>
                <a:noFill/>
                <a:ln w="38100" cap="flat">
                  <a:solidFill>
                    <a:srgbClr val="164F86"/>
                  </a:solidFill>
                  <a:prstDash val="solid"/>
                  <a:miter lim="400000"/>
                  <a:tailEnd type="triangle" w="med" len="med"/>
                </a:ln>
                <a:effectLst/>
              </p:spPr>
              <p:txBody>
                <a:bodyPr wrap="square" lIns="40640" tIns="40640" rIns="40640" bIns="40640" numCol="1" anchor="ctr">
                  <a:noAutofit/>
                </a:bodyPr>
                <a:lstStyle/>
                <a:p>
                  <a:pPr algn="ctr" defTabSz="204783">
                    <a:defRPr sz="38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FillTx/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>
                    <a:latin typeface="Arial"/>
                    <a:cs typeface="Arial"/>
                  </a:endParaRPr>
                </a:p>
              </p:txBody>
            </p:sp>
            <p:sp>
              <p:nvSpPr>
                <p:cNvPr id="241" name="Shape 241"/>
                <p:cNvSpPr/>
                <p:nvPr/>
              </p:nvSpPr>
              <p:spPr>
                <a:xfrm>
                  <a:off x="0" y="94105"/>
                  <a:ext cx="1926232" cy="468373"/>
                </a:xfrm>
                <a:prstGeom prst="roundRect">
                  <a:avLst>
                    <a:gd name="adj" fmla="val 29948"/>
                  </a:avLst>
                </a:prstGeom>
                <a:blipFill rotWithShape="1">
                  <a:blip r:embed="rId2"/>
                  <a:srcRect/>
                  <a:tile tx="0" ty="0" sx="100000" sy="100000" flip="none" algn="tl"/>
                </a:blipFill>
                <a:ln w="3175" cap="flat">
                  <a:noFill/>
                  <a:miter lim="400000"/>
                </a:ln>
                <a:effectLst>
                  <a:outerShdw blurRad="50800" dist="63500" dir="2700000" rotWithShape="0">
                    <a:srgbClr val="000000">
                      <a:alpha val="50000"/>
                    </a:srgbClr>
                  </a:outerShdw>
                </a:effectLst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0640" tIns="40640" rIns="40640" bIns="40640" numCol="1" anchor="ctr">
                  <a:noAutofit/>
                </a:bodyPr>
                <a:lstStyle>
                  <a:lvl1pPr algn="ctr" defTabSz="546100">
                    <a:defRPr sz="25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FillTx/>
                      <a:latin typeface="Gill Sans"/>
                      <a:ea typeface="Gill Sans"/>
                      <a:cs typeface="Gill Sans"/>
                      <a:sym typeface="Gill Sans"/>
                    </a:defRPr>
                  </a:lvl1pPr>
                </a:lstStyle>
                <a:p>
                  <a:pPr lvl="0">
                    <a:defRPr sz="1800">
                      <a:solidFill>
                        <a:srgbClr val="000000"/>
                      </a:solidFill>
                      <a:effectLst/>
                    </a:defRPr>
                  </a:pPr>
                  <a:r>
                    <a:rPr sz="1200" b="1" dirty="0">
                      <a:solidFill>
                        <a:schemeClr val="bg1"/>
                      </a:solidFill>
                      <a:latin typeface="Arial"/>
                      <a:cs typeface="Arial"/>
                    </a:rPr>
                    <a:t>start tx</a:t>
                  </a:r>
                </a:p>
              </p:txBody>
            </p:sp>
            <p:sp>
              <p:nvSpPr>
                <p:cNvPr id="242" name="Shape 242"/>
                <p:cNvSpPr/>
                <p:nvPr/>
              </p:nvSpPr>
              <p:spPr>
                <a:xfrm>
                  <a:off x="2002510" y="347891"/>
                  <a:ext cx="4410898" cy="1"/>
                </a:xfrm>
                <a:prstGeom prst="line">
                  <a:avLst/>
                </a:prstGeom>
                <a:noFill/>
                <a:ln w="38100" cap="flat">
                  <a:solidFill>
                    <a:srgbClr val="164F86"/>
                  </a:solidFill>
                  <a:prstDash val="solid"/>
                  <a:miter lim="400000"/>
                  <a:tailEnd type="triangle" w="med" len="med"/>
                </a:ln>
                <a:effectLst/>
              </p:spPr>
              <p:txBody>
                <a:bodyPr wrap="square" lIns="40640" tIns="40640" rIns="40640" bIns="40640" numCol="1" anchor="ctr">
                  <a:noAutofit/>
                </a:bodyPr>
                <a:lstStyle/>
                <a:p>
                  <a:pPr algn="ctr" defTabSz="204783">
                    <a:defRPr sz="38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FillTx/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>
                    <a:latin typeface="Arial"/>
                    <a:cs typeface="Arial"/>
                  </a:endParaRPr>
                </a:p>
              </p:txBody>
            </p:sp>
            <p:sp>
              <p:nvSpPr>
                <p:cNvPr id="243" name="Shape 243"/>
                <p:cNvSpPr/>
                <p:nvPr/>
              </p:nvSpPr>
              <p:spPr>
                <a:xfrm>
                  <a:off x="4221197" y="-293393"/>
                  <a:ext cx="922073" cy="70132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0640" tIns="40640" rIns="40640" bIns="40640" numCol="1" anchor="ctr">
                  <a:spAutoFit/>
                </a:bodyPr>
                <a:lstStyle>
                  <a:lvl1pPr algn="ctr" defTabSz="546100">
                    <a:defRPr sz="1800" b="1">
                      <a:solidFill>
                        <a:srgbClr val="00882B"/>
                      </a:solidFill>
                      <a:uFillTx/>
                      <a:latin typeface="+mj-lt"/>
                      <a:ea typeface="+mj-ea"/>
                      <a:cs typeface="+mj-cs"/>
                      <a:sym typeface="Helvetica"/>
                    </a:defRPr>
                  </a:lvl1pPr>
                </a:lstStyle>
                <a:p>
                  <a:pPr lvl="0">
                    <a:defRPr b="0">
                      <a:solidFill>
                        <a:srgbClr val="000000"/>
                      </a:solidFill>
                    </a:defRPr>
                  </a:pPr>
                  <a:r>
                    <a:rPr b="1" dirty="0">
                      <a:solidFill>
                        <a:srgbClr val="00882B"/>
                      </a:solidFill>
                      <a:latin typeface="Arial"/>
                      <a:cs typeface="Arial"/>
                    </a:rPr>
                    <a:t>start</a:t>
                  </a:r>
                </a:p>
              </p:txBody>
            </p:sp>
            <p:sp>
              <p:nvSpPr>
                <p:cNvPr id="244" name="Shape 244"/>
                <p:cNvSpPr/>
                <p:nvPr/>
              </p:nvSpPr>
              <p:spPr>
                <a:xfrm>
                  <a:off x="6447408" y="90330"/>
                  <a:ext cx="2070184" cy="468374"/>
                </a:xfrm>
                <a:prstGeom prst="roundRect">
                  <a:avLst>
                    <a:gd name="adj" fmla="val 29948"/>
                  </a:avLst>
                </a:prstGeom>
                <a:solidFill>
                  <a:srgbClr val="773F9B"/>
                </a:solidFill>
                <a:ln w="3175" cap="flat">
                  <a:noFill/>
                  <a:miter lim="400000"/>
                </a:ln>
                <a:effectLst>
                  <a:outerShdw blurRad="50800" dist="63500" dir="2700000" rotWithShape="0">
                    <a:srgbClr val="000000">
                      <a:alpha val="50000"/>
                    </a:srgbClr>
                  </a:outerShdw>
                </a:effectLst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0640" tIns="40640" rIns="40640" bIns="40640" numCol="1" anchor="ctr">
                  <a:noAutofit/>
                </a:bodyPr>
                <a:lstStyle>
                  <a:lvl1pPr algn="ctr" defTabSz="546100">
                    <a:defRPr sz="25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FillTx/>
                      <a:latin typeface="Gill Sans"/>
                      <a:ea typeface="Gill Sans"/>
                      <a:cs typeface="Gill Sans"/>
                      <a:sym typeface="Gill Sans"/>
                    </a:defRPr>
                  </a:lvl1pPr>
                </a:lstStyle>
                <a:p>
                  <a:pPr lvl="0">
                    <a:defRPr sz="1800">
                      <a:solidFill>
                        <a:srgbClr val="000000"/>
                      </a:solidFill>
                      <a:effectLst/>
                    </a:defRPr>
                  </a:pPr>
                  <a:r>
                    <a:rPr sz="1200" b="1" dirty="0">
                      <a:solidFill>
                        <a:schemeClr val="bg1"/>
                      </a:solidFill>
                      <a:latin typeface="Arial"/>
                      <a:cs typeface="Arial"/>
                    </a:rPr>
                    <a:t>start tx</a:t>
                  </a:r>
                </a:p>
              </p:txBody>
            </p:sp>
          </p:grpSp>
        </p:grpSp>
        <p:grpSp>
          <p:nvGrpSpPr>
            <p:cNvPr id="253" name="Group 253"/>
            <p:cNvGrpSpPr/>
            <p:nvPr/>
          </p:nvGrpSpPr>
          <p:grpSpPr>
            <a:xfrm>
              <a:off x="8574927" y="5302753"/>
              <a:ext cx="7671782" cy="1031669"/>
              <a:chOff x="0" y="0"/>
              <a:chExt cx="7671780" cy="1031667"/>
            </a:xfrm>
          </p:grpSpPr>
          <p:sp>
            <p:nvSpPr>
              <p:cNvPr id="247" name="Shape 247"/>
              <p:cNvSpPr/>
              <p:nvPr/>
            </p:nvSpPr>
            <p:spPr>
              <a:xfrm>
                <a:off x="2615206" y="789422"/>
                <a:ext cx="2787195" cy="1"/>
              </a:xfrm>
              <a:prstGeom prst="line">
                <a:avLst/>
              </a:pr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  <p:sp>
            <p:nvSpPr>
              <p:cNvPr id="248" name="Shape 248"/>
              <p:cNvSpPr/>
              <p:nvPr/>
            </p:nvSpPr>
            <p:spPr>
              <a:xfrm>
                <a:off x="2869247" y="285591"/>
                <a:ext cx="1938628" cy="3483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1800" b="1">
                    <a:solidFill>
                      <a:srgbClr val="00882B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</a:lstStyle>
              <a:p>
                <a:pPr lvl="0">
                  <a:defRPr b="0">
                    <a:solidFill>
                      <a:srgbClr val="000000"/>
                    </a:solidFill>
                  </a:defRPr>
                </a:pPr>
                <a:r>
                  <a:rPr b="1" dirty="0">
                    <a:solidFill>
                      <a:srgbClr val="00882B"/>
                    </a:solidFill>
                    <a:latin typeface="Arial"/>
                    <a:cs typeface="Arial"/>
                  </a:rPr>
                  <a:t>commit</a:t>
                </a:r>
              </a:p>
            </p:txBody>
          </p:sp>
          <p:sp>
            <p:nvSpPr>
              <p:cNvPr id="249" name="Shape 249"/>
              <p:cNvSpPr/>
              <p:nvPr/>
            </p:nvSpPr>
            <p:spPr>
              <a:xfrm>
                <a:off x="661733" y="563294"/>
                <a:ext cx="1926233" cy="468373"/>
              </a:xfrm>
              <a:prstGeom prst="roundRect">
                <a:avLst>
                  <a:gd name="adj" fmla="val 29948"/>
                </a:avLst>
              </a:prstGeom>
              <a:blipFill rotWithShape="1">
                <a:blip r:embed="rId2"/>
                <a:srcRect/>
                <a:tile tx="0" ty="0" sx="100000" sy="100000" flip="none" algn="tl"/>
              </a:blipFill>
              <a:ln w="3175" cap="flat">
                <a:noFill/>
                <a:miter lim="400000"/>
              </a:ln>
              <a:effectLst>
                <a:outerShdw blurRad="50800" dist="63500" dir="2700000" rotWithShape="0">
                  <a:srgbClr val="000000">
                    <a:alpha val="50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2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  <a:effectLst/>
                  </a:defRPr>
                </a:pPr>
                <a:r>
                  <a:rPr sz="1200" b="1" dirty="0">
                    <a:solidFill>
                      <a:schemeClr val="bg1"/>
                    </a:solidFill>
                    <a:latin typeface="Arial"/>
                    <a:cs typeface="Arial"/>
                  </a:rPr>
                  <a:t>try commit</a:t>
                </a:r>
              </a:p>
            </p:txBody>
          </p:sp>
          <p:sp>
            <p:nvSpPr>
              <p:cNvPr id="250" name="Shape 250"/>
              <p:cNvSpPr/>
              <p:nvPr/>
            </p:nvSpPr>
            <p:spPr>
              <a:xfrm>
                <a:off x="0" y="108878"/>
                <a:ext cx="1454696" cy="413241"/>
              </a:xfrm>
              <a:prstGeom prst="line">
                <a:avLst/>
              </a:pr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  <p:sp>
            <p:nvSpPr>
              <p:cNvPr id="251" name="Shape 251"/>
              <p:cNvSpPr/>
              <p:nvPr/>
            </p:nvSpPr>
            <p:spPr>
              <a:xfrm>
                <a:off x="6545307" y="0"/>
                <a:ext cx="1" cy="592940"/>
              </a:xfrm>
              <a:prstGeom prst="line">
                <a:avLst/>
              </a:pr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  <p:sp>
            <p:nvSpPr>
              <p:cNvPr id="252" name="Shape 252"/>
              <p:cNvSpPr/>
              <p:nvPr/>
            </p:nvSpPr>
            <p:spPr>
              <a:xfrm>
                <a:off x="5421826" y="557834"/>
                <a:ext cx="2249954" cy="468373"/>
              </a:xfrm>
              <a:prstGeom prst="roundRect">
                <a:avLst>
                  <a:gd name="adj" fmla="val 29948"/>
                </a:avLst>
              </a:prstGeom>
              <a:solidFill>
                <a:srgbClr val="773F9B"/>
              </a:solidFill>
              <a:ln w="3175" cap="flat">
                <a:noFill/>
                <a:miter lim="400000"/>
              </a:ln>
              <a:effectLst>
                <a:outerShdw blurRad="50800" dist="63500" dir="2700000" rotWithShape="0">
                  <a:srgbClr val="000000">
                    <a:alpha val="50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2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  <a:effectLst/>
                  </a:defRPr>
                </a:pPr>
                <a:r>
                  <a:rPr sz="1200" b="1" dirty="0">
                    <a:solidFill>
                      <a:schemeClr val="bg1"/>
                    </a:solidFill>
                    <a:latin typeface="Arial"/>
                    <a:cs typeface="Arial"/>
                  </a:rPr>
                  <a:t>check conflicts</a:t>
                </a:r>
              </a:p>
            </p:txBody>
          </p:sp>
        </p:grpSp>
        <p:grpSp>
          <p:nvGrpSpPr>
            <p:cNvPr id="259" name="Group 259"/>
            <p:cNvGrpSpPr/>
            <p:nvPr/>
          </p:nvGrpSpPr>
          <p:grpSpPr>
            <a:xfrm>
              <a:off x="8072065" y="8454327"/>
              <a:ext cx="9095243" cy="922801"/>
              <a:chOff x="228818" y="700700"/>
              <a:chExt cx="9095241" cy="922801"/>
            </a:xfrm>
          </p:grpSpPr>
          <p:sp>
            <p:nvSpPr>
              <p:cNvPr id="255" name="Shape 255"/>
              <p:cNvSpPr/>
              <p:nvPr/>
            </p:nvSpPr>
            <p:spPr>
              <a:xfrm>
                <a:off x="7433996" y="1124180"/>
                <a:ext cx="1890063" cy="499321"/>
              </a:xfrm>
              <a:prstGeom prst="rect">
                <a:avLst/>
              </a:prstGeom>
              <a:solidFill>
                <a:srgbClr val="DCDEE0"/>
              </a:solidFill>
              <a:ln w="12700" cap="flat">
                <a:solidFill>
                  <a:srgbClr val="53585F"/>
                </a:solidFill>
                <a:prstDash val="solid"/>
                <a:miter lim="400000"/>
              </a:ln>
              <a:effectLst>
                <a:outerShdw blurRad="25400" dist="12700" dir="5400000" rotWithShape="0">
                  <a:srgbClr val="000000">
                    <a:alpha val="50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1800">
                    <a:solidFill>
                      <a:srgbClr val="000000"/>
                    </a:solidFill>
                    <a:uFillTx/>
                  </a:defRPr>
                </a:pPr>
                <a:r>
                  <a:rPr sz="900">
                    <a:latin typeface="Arial"/>
                    <a:ea typeface="Gill Sans"/>
                    <a:cs typeface="Arial"/>
                    <a:sym typeface="Gill Sans"/>
                  </a:rPr>
                  <a:t>invalid </a:t>
                </a:r>
                <a:r>
                  <a:rPr sz="900">
                    <a:solidFill>
                      <a:srgbClr val="C82506"/>
                    </a:solidFill>
                    <a:latin typeface="Arial"/>
                    <a:ea typeface="Gill Sans"/>
                    <a:cs typeface="Arial"/>
                    <a:sym typeface="Gill Sans"/>
                  </a:rPr>
                  <a:t>X</a:t>
                </a:r>
              </a:p>
            </p:txBody>
          </p:sp>
          <p:sp>
            <p:nvSpPr>
              <p:cNvPr id="256" name="Shape 256"/>
              <p:cNvSpPr/>
              <p:nvPr/>
            </p:nvSpPr>
            <p:spPr>
              <a:xfrm rot="683568">
                <a:off x="365653" y="700700"/>
                <a:ext cx="7028436" cy="8036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78" extrusionOk="0">
                    <a:moveTo>
                      <a:pt x="0" y="0"/>
                    </a:moveTo>
                    <a:cubicBezTo>
                      <a:pt x="434" y="4396"/>
                      <a:pt x="956" y="8202"/>
                      <a:pt x="1546" y="11248"/>
                    </a:cubicBezTo>
                    <a:cubicBezTo>
                      <a:pt x="3044" y="18986"/>
                      <a:pt x="4798" y="21364"/>
                      <a:pt x="6580" y="21474"/>
                    </a:cubicBezTo>
                    <a:cubicBezTo>
                      <a:pt x="8632" y="21600"/>
                      <a:pt x="10730" y="18848"/>
                      <a:pt x="12787" y="15713"/>
                    </a:cubicBezTo>
                    <a:cubicBezTo>
                      <a:pt x="15753" y="11192"/>
                      <a:pt x="18694" y="5960"/>
                      <a:pt x="21600" y="0"/>
                    </a:cubicBezTo>
                  </a:path>
                </a:pathLst>
              </a:custGeom>
              <a:noFill/>
              <a:ln w="38100" cap="flat">
                <a:solidFill>
                  <a:srgbClr val="164F86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40640" tIns="40640" rIns="40640" bIns="40640" numCol="1" anchor="ctr">
                <a:noAutofit/>
              </a:bodyPr>
              <a:lstStyle/>
              <a:p>
                <a:pPr algn="ctr" defTabSz="204783">
                  <a:defRPr sz="38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>
                  <a:latin typeface="Arial"/>
                  <a:cs typeface="Arial"/>
                </a:endParaRPr>
              </a:p>
            </p:txBody>
          </p:sp>
          <p:sp>
            <p:nvSpPr>
              <p:cNvPr id="257" name="Shape 257"/>
              <p:cNvSpPr/>
              <p:nvPr/>
            </p:nvSpPr>
            <p:spPr>
              <a:xfrm>
                <a:off x="3906057" y="990506"/>
                <a:ext cx="1938628" cy="3483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1800" b="1">
                    <a:solidFill>
                      <a:srgbClr val="C82506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</a:lstStyle>
              <a:p>
                <a:pPr lvl="0">
                  <a:defRPr b="0">
                    <a:solidFill>
                      <a:srgbClr val="000000"/>
                    </a:solidFill>
                  </a:defRPr>
                </a:pPr>
                <a:r>
                  <a:rPr b="1" dirty="0">
                    <a:solidFill>
                      <a:srgbClr val="C82506"/>
                    </a:solidFill>
                    <a:latin typeface="Arial"/>
                    <a:cs typeface="Arial"/>
                  </a:rPr>
                  <a:t>invalidate</a:t>
                </a:r>
              </a:p>
            </p:txBody>
          </p:sp>
          <p:sp>
            <p:nvSpPr>
              <p:cNvPr id="258" name="Shape 258"/>
              <p:cNvSpPr/>
              <p:nvPr/>
            </p:nvSpPr>
            <p:spPr>
              <a:xfrm>
                <a:off x="228818" y="747751"/>
                <a:ext cx="1054837" cy="3483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0640" tIns="40640" rIns="40640" bIns="40640" numCol="1" anchor="ctr">
                <a:noAutofit/>
              </a:bodyPr>
              <a:lstStyle>
                <a:lvl1pPr algn="ctr" defTabSz="546100">
                  <a:defRPr sz="1800">
                    <a:solidFill>
                      <a:srgbClr val="C82506"/>
                    </a:solidFill>
                    <a:uFillTx/>
                    <a:latin typeface="+mj-lt"/>
                    <a:ea typeface="+mj-ea"/>
                    <a:cs typeface="+mj-cs"/>
                    <a:sym typeface="Helvetica"/>
                  </a:defRPr>
                </a:lvl1pPr>
              </a:lstStyle>
              <a:p>
                <a:pPr lvl="0">
                  <a:defRPr>
                    <a:solidFill>
                      <a:srgbClr val="000000"/>
                    </a:solidFill>
                  </a:defRPr>
                </a:pPr>
                <a:r>
                  <a:rPr dirty="0">
                    <a:solidFill>
                      <a:srgbClr val="C82506"/>
                    </a:solidFill>
                    <a:latin typeface="Arial"/>
                    <a:cs typeface="Arial"/>
                  </a:rPr>
                  <a:t>failed</a:t>
                </a:r>
              </a:p>
            </p:txBody>
          </p:sp>
        </p:grpSp>
      </p:grpSp>
      <p:sp>
        <p:nvSpPr>
          <p:cNvPr id="49" name="Shape 194"/>
          <p:cNvSpPr txBox="1">
            <a:spLocks/>
          </p:cNvSpPr>
          <p:nvPr/>
        </p:nvSpPr>
        <p:spPr>
          <a:xfrm>
            <a:off x="1365161" y="-37813"/>
            <a:ext cx="6408713" cy="720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>
                <a:solidFill>
                  <a:srgbClr val="000000"/>
                </a:solidFill>
                <a:uFillTx/>
              </a:defRPr>
            </a:pPr>
            <a:r>
              <a:rPr lang="en-US" sz="3300" dirty="0" smtClean="0">
                <a:solidFill>
                  <a:srgbClr val="3C4353"/>
                </a:solidFill>
                <a:uFill>
                  <a:solidFill/>
                </a:uFill>
              </a:rPr>
              <a:t>Transaction Lifecycle</a:t>
            </a:r>
            <a:endParaRPr lang="en-US" sz="3300" dirty="0">
              <a:solidFill>
                <a:srgbClr val="3C4353"/>
              </a:solidFill>
              <a:uFill>
                <a:solidFill/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118927024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fill="hold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/>
          </p:cNvSpPr>
          <p:nvPr>
            <p:ph type="title"/>
          </p:nvPr>
        </p:nvSpPr>
        <p:spPr>
          <a:xfrm>
            <a:off x="1403648" y="128938"/>
            <a:ext cx="6408713" cy="720081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3300" dirty="0">
                <a:solidFill>
                  <a:srgbClr val="3C4353"/>
                </a:solidFill>
                <a:uFill>
                  <a:solidFill/>
                </a:uFill>
              </a:rPr>
              <a:t>Tephra Architecture</a:t>
            </a:r>
          </a:p>
        </p:txBody>
      </p:sp>
      <p:sp>
        <p:nvSpPr>
          <p:cNvPr id="262" name="Shape 262"/>
          <p:cNvSpPr/>
          <p:nvPr/>
        </p:nvSpPr>
        <p:spPr>
          <a:xfrm>
            <a:off x="860557" y="1075852"/>
            <a:ext cx="7504070" cy="35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346769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dirty="0">
                <a:solidFill>
                  <a:srgbClr val="19243E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TransactionAware client</a:t>
            </a:r>
          </a:p>
          <a:p>
            <a:pPr marL="513457" lvl="1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Coordinates transaction lifecycle with manager</a:t>
            </a:r>
          </a:p>
          <a:p>
            <a:pPr marL="513457" lvl="1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Communicates directly with HBase for reads and writes</a:t>
            </a:r>
          </a:p>
          <a:p>
            <a:pPr marL="346769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dirty="0">
                <a:solidFill>
                  <a:srgbClr val="19243E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Transaction Manager</a:t>
            </a:r>
            <a:endParaRPr dirty="0">
              <a:solidFill>
                <a:srgbClr val="1924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513457" lvl="1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Assigns transaction IDs</a:t>
            </a:r>
          </a:p>
          <a:p>
            <a:pPr marL="513457" lvl="1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Maintains state on in-progress, committed and invalid transactions</a:t>
            </a:r>
            <a:endParaRPr dirty="0">
              <a:solidFill>
                <a:srgbClr val="19243E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marL="346769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dirty="0">
                <a:solidFill>
                  <a:srgbClr val="19243E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Transaction Processor</a:t>
            </a:r>
            <a:r>
              <a:rPr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coprocessor</a:t>
            </a:r>
          </a:p>
          <a:p>
            <a:pPr marL="513457" lvl="1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Applies server-side filtering for reads</a:t>
            </a:r>
          </a:p>
          <a:p>
            <a:pPr marL="513457" lvl="1" indent="-227707" defTabSz="204788">
              <a:spcBef>
                <a:spcPts val="863"/>
              </a:spcBef>
              <a:buSzPct val="92000"/>
              <a:buChar char="•"/>
              <a:defRPr sz="1800">
                <a:solidFill>
                  <a:srgbClr val="000000"/>
                </a:solidFill>
                <a:uFillTx/>
              </a:defRPr>
            </a:pPr>
            <a:r>
              <a:rPr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Cleans up data from failed transactions, and no longer visible vers</a:t>
            </a:r>
            <a:r>
              <a:rPr sz="1400" dirty="0">
                <a:solidFill>
                  <a:srgbClr val="19243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423186011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What’s New?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2185"/>
            <a:ext cx="8229600" cy="4050631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err="1"/>
              <a:t>HBase</a:t>
            </a:r>
            <a:r>
              <a:rPr lang="en-US" sz="2800" dirty="0"/>
              <a:t> 1.0 Support</a:t>
            </a:r>
          </a:p>
          <a:p>
            <a:r>
              <a:rPr lang="en-US" sz="2800" dirty="0" smtClean="0"/>
              <a:t>Functional Indexes</a:t>
            </a:r>
          </a:p>
          <a:p>
            <a:r>
              <a:rPr lang="en-US" sz="2800" dirty="0" smtClean="0"/>
              <a:t>User Defined Functions</a:t>
            </a:r>
          </a:p>
          <a:p>
            <a:r>
              <a:rPr lang="en-US" sz="2800" dirty="0" smtClean="0"/>
              <a:t>Query Server with Thin Driver</a:t>
            </a:r>
          </a:p>
          <a:p>
            <a:r>
              <a:rPr lang="en-US" sz="2800" dirty="0" smtClean="0"/>
              <a:t>Union All support</a:t>
            </a:r>
          </a:p>
          <a:p>
            <a:r>
              <a:rPr lang="en-US" sz="2800" dirty="0"/>
              <a:t>T</a:t>
            </a:r>
            <a:r>
              <a:rPr lang="en-US" sz="2800" dirty="0" smtClean="0"/>
              <a:t>esting at scale with </a:t>
            </a:r>
            <a:r>
              <a:rPr lang="en-US" sz="2800" dirty="0" err="1" smtClean="0"/>
              <a:t>Pherf</a:t>
            </a:r>
            <a:endParaRPr lang="en-US" sz="2800" dirty="0" smtClean="0"/>
          </a:p>
          <a:p>
            <a:r>
              <a:rPr lang="en-US" sz="2800" dirty="0" smtClean="0"/>
              <a:t>MR index build</a:t>
            </a:r>
          </a:p>
          <a:p>
            <a:r>
              <a:rPr lang="en-US" sz="2800" dirty="0" smtClean="0"/>
              <a:t>Spark integration</a:t>
            </a:r>
          </a:p>
          <a:p>
            <a:r>
              <a:rPr lang="en-US" sz="2800" dirty="0" smtClean="0"/>
              <a:t>Date built-in functions – WEEK, DAYOFMONTH, etc.</a:t>
            </a:r>
          </a:p>
          <a:p>
            <a:r>
              <a:rPr lang="en-US" sz="2800" dirty="0"/>
              <a:t>T</a:t>
            </a:r>
            <a:r>
              <a:rPr lang="en-US" sz="2800" dirty="0" smtClean="0"/>
              <a:t>ransactions (WIP - will be in next release)</a:t>
            </a:r>
          </a:p>
        </p:txBody>
      </p:sp>
    </p:spTree>
    <p:extLst>
      <p:ext uri="{BB962C8B-B14F-4D97-AF65-F5344CB8AC3E}">
        <p14:creationId xmlns:p14="http://schemas.microsoft.com/office/powerpoint/2010/main" val="165343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7"/>
            <a:ext cx="8229600" cy="857250"/>
          </a:xfrm>
        </p:spPr>
        <p:txBody>
          <a:bodyPr/>
          <a:lstStyle/>
          <a:p>
            <a:r>
              <a:rPr lang="en-US" dirty="0" smtClean="0"/>
              <a:t>What’s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2978"/>
            <a:ext cx="8980428" cy="3394472"/>
          </a:xfrm>
        </p:spPr>
        <p:txBody>
          <a:bodyPr>
            <a:normAutofit/>
          </a:bodyPr>
          <a:lstStyle/>
          <a:p>
            <a:r>
              <a:rPr lang="en-US" dirty="0" smtClean="0"/>
              <a:t>Is Phoenix done?</a:t>
            </a:r>
          </a:p>
          <a:p>
            <a:r>
              <a:rPr lang="en-US" dirty="0" smtClean="0"/>
              <a:t>What about the </a:t>
            </a:r>
            <a:r>
              <a:rPr lang="en-US" i="1" dirty="0" smtClean="0"/>
              <a:t>Big Picture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How can Phoenix be leveraged in the larger ecosystem?</a:t>
            </a:r>
          </a:p>
          <a:p>
            <a:pPr lvl="1"/>
            <a:r>
              <a:rPr lang="en-US" dirty="0" smtClean="0"/>
              <a:t>Hive, Pig, Spark, MR integration with Phoenix exists today, but not a great story</a:t>
            </a:r>
          </a:p>
        </p:txBody>
      </p:sp>
    </p:spTree>
    <p:extLst>
      <p:ext uri="{BB962C8B-B14F-4D97-AF65-F5344CB8AC3E}">
        <p14:creationId xmlns:p14="http://schemas.microsoft.com/office/powerpoint/2010/main" val="40053711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7"/>
            <a:ext cx="8229600" cy="857250"/>
          </a:xfrm>
        </p:spPr>
        <p:txBody>
          <a:bodyPr/>
          <a:lstStyle/>
          <a:p>
            <a:r>
              <a:rPr lang="en-US" dirty="0" smtClean="0"/>
              <a:t>What’s Next?</a:t>
            </a:r>
            <a:endParaRPr lang="en-US" dirty="0"/>
          </a:p>
        </p:txBody>
      </p:sp>
      <p:pic>
        <p:nvPicPr>
          <p:cNvPr id="4" name="Content Placeholder 3" descr="Big-Data-Landscape.jpg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59" r="-5050"/>
          <a:stretch/>
        </p:blipFill>
        <p:spPr>
          <a:xfrm>
            <a:off x="1013503" y="718295"/>
            <a:ext cx="5747473" cy="42071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roup 12"/>
          <p:cNvGrpSpPr/>
          <p:nvPr/>
        </p:nvGrpSpPr>
        <p:grpSpPr>
          <a:xfrm>
            <a:off x="2745440" y="1410934"/>
            <a:ext cx="6196500" cy="3270806"/>
            <a:chOff x="2745440" y="1410934"/>
            <a:chExt cx="6196500" cy="3270806"/>
          </a:xfrm>
        </p:grpSpPr>
        <p:cxnSp>
          <p:nvCxnSpPr>
            <p:cNvPr id="6" name="Curved Connector 5"/>
            <p:cNvCxnSpPr/>
            <p:nvPr/>
          </p:nvCxnSpPr>
          <p:spPr>
            <a:xfrm flipV="1">
              <a:off x="2745440" y="1595600"/>
              <a:ext cx="4400410" cy="3086140"/>
            </a:xfrm>
            <a:prstGeom prst="curvedConnector3">
              <a:avLst/>
            </a:prstGeom>
            <a:ln w="76200" cmpd="sng">
              <a:solidFill>
                <a:srgbClr val="FF0000"/>
              </a:solidFill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197171" y="1410934"/>
              <a:ext cx="1744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You are here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811945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7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Introducing Apache Calcite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388" y="815340"/>
            <a:ext cx="8634040" cy="434098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Q</a:t>
            </a:r>
            <a:r>
              <a:rPr lang="en-US" dirty="0" smtClean="0"/>
              <a:t>uery </a:t>
            </a:r>
            <a:r>
              <a:rPr lang="en-US" dirty="0"/>
              <a:t>parser, compiler, and planner </a:t>
            </a:r>
            <a:r>
              <a:rPr lang="en-US" dirty="0" smtClean="0"/>
              <a:t>framework</a:t>
            </a:r>
          </a:p>
          <a:p>
            <a:pPr lvl="1"/>
            <a:r>
              <a:rPr lang="en-US" dirty="0" smtClean="0"/>
              <a:t>Enables Phoenix to get missing SQL support</a:t>
            </a:r>
          </a:p>
          <a:p>
            <a:pPr lvl="1"/>
            <a:r>
              <a:rPr lang="en-US" dirty="0" smtClean="0"/>
              <a:t>ANSI </a:t>
            </a:r>
            <a:r>
              <a:rPr lang="en-US" dirty="0"/>
              <a:t>compliant (ever argue </a:t>
            </a:r>
            <a:r>
              <a:rPr lang="en-US" dirty="0" smtClean="0"/>
              <a:t>SQL </a:t>
            </a:r>
            <a:r>
              <a:rPr lang="en-US" dirty="0"/>
              <a:t>with </a:t>
            </a:r>
            <a:r>
              <a:rPr lang="en-US" dirty="0" smtClean="0"/>
              <a:t>Julian? </a:t>
            </a:r>
            <a:r>
              <a:rPr lang="en-US" dirty="0"/>
              <a:t>:-) </a:t>
            </a:r>
            <a:r>
              <a:rPr lang="en-US" dirty="0" smtClean="0"/>
              <a:t>)</a:t>
            </a:r>
          </a:p>
          <a:p>
            <a:r>
              <a:rPr lang="en-US" dirty="0"/>
              <a:t>P</a:t>
            </a:r>
            <a:r>
              <a:rPr lang="en-US" dirty="0" smtClean="0"/>
              <a:t>luggable cost</a:t>
            </a:r>
            <a:r>
              <a:rPr lang="en-US" dirty="0"/>
              <a:t>-based optimizer </a:t>
            </a:r>
            <a:r>
              <a:rPr lang="en-US" dirty="0" smtClean="0"/>
              <a:t>framework</a:t>
            </a:r>
            <a:endParaRPr lang="en-US" dirty="0"/>
          </a:p>
          <a:p>
            <a:pPr lvl="1"/>
            <a:r>
              <a:rPr lang="en-US" dirty="0" smtClean="0"/>
              <a:t>Sane </a:t>
            </a:r>
            <a:r>
              <a:rPr lang="en-US" dirty="0"/>
              <a:t>way to </a:t>
            </a:r>
            <a:r>
              <a:rPr lang="en-US" dirty="0" smtClean="0"/>
              <a:t>model </a:t>
            </a:r>
            <a:r>
              <a:rPr lang="en-US" b="1" dirty="0" smtClean="0"/>
              <a:t>push down </a:t>
            </a:r>
            <a:r>
              <a:rPr lang="en-US" dirty="0"/>
              <a:t>through </a:t>
            </a:r>
            <a:r>
              <a:rPr lang="en-US" dirty="0" smtClean="0"/>
              <a:t>rules</a:t>
            </a:r>
          </a:p>
          <a:p>
            <a:r>
              <a:rPr lang="en-US" dirty="0" err="1" smtClean="0"/>
              <a:t>Interop</a:t>
            </a:r>
            <a:r>
              <a:rPr lang="en-US" dirty="0" smtClean="0"/>
              <a:t> with other Calcite adaptors</a:t>
            </a:r>
            <a:endParaRPr lang="en-US" dirty="0"/>
          </a:p>
          <a:p>
            <a:pPr lvl="1"/>
            <a:r>
              <a:rPr lang="en-US" dirty="0" smtClean="0"/>
              <a:t>Not for </a:t>
            </a:r>
            <a:r>
              <a:rPr lang="en-US" dirty="0"/>
              <a:t>free, but </a:t>
            </a:r>
            <a:r>
              <a:rPr lang="en-US" dirty="0" smtClean="0"/>
              <a:t>it becomes feasible</a:t>
            </a:r>
            <a:endParaRPr lang="en-US" dirty="0"/>
          </a:p>
          <a:p>
            <a:pPr lvl="1"/>
            <a:r>
              <a:rPr lang="en-US" dirty="0"/>
              <a:t>A</a:t>
            </a:r>
            <a:r>
              <a:rPr lang="en-US" dirty="0" smtClean="0"/>
              <a:t>lready </a:t>
            </a:r>
            <a:r>
              <a:rPr lang="en-US" dirty="0"/>
              <a:t>used by Drill, Hive, </a:t>
            </a:r>
            <a:r>
              <a:rPr lang="en-US" dirty="0" err="1" smtClean="0"/>
              <a:t>Kylin</a:t>
            </a:r>
            <a:r>
              <a:rPr lang="en-US" dirty="0" smtClean="0"/>
              <a:t>, </a:t>
            </a:r>
            <a:r>
              <a:rPr lang="en-US" dirty="0" err="1" smtClean="0"/>
              <a:t>Samza</a:t>
            </a:r>
            <a:endParaRPr lang="en-US" dirty="0"/>
          </a:p>
          <a:p>
            <a:pPr lvl="1"/>
            <a:r>
              <a:rPr lang="en-US" dirty="0" smtClean="0"/>
              <a:t>Supports any JDBC source </a:t>
            </a:r>
            <a:r>
              <a:rPr lang="en-US" dirty="0"/>
              <a:t>(</a:t>
            </a:r>
            <a:r>
              <a:rPr lang="en-US" dirty="0" smtClean="0"/>
              <a:t>i.e</a:t>
            </a:r>
            <a:r>
              <a:rPr lang="en-US" dirty="0"/>
              <a:t>. RDBMS - remember them :-) )</a:t>
            </a:r>
          </a:p>
          <a:p>
            <a:pPr lvl="1"/>
            <a:r>
              <a:rPr lang="en-US" b="1" dirty="0"/>
              <a:t>O</a:t>
            </a:r>
            <a:r>
              <a:rPr lang="en-US" b="1" dirty="0" smtClean="0"/>
              <a:t>ne </a:t>
            </a:r>
            <a:r>
              <a:rPr lang="en-US" b="1" dirty="0"/>
              <a:t>cost-model to rule them all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8481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Ta Da-SoundBible.com-1884170640.wav"/>
          </p:stSnd>
        </p:sndAc>
      </p:transition>
    </mc:Choice>
    <mc:Fallback xmlns="">
      <p:transition xmlns:p14="http://schemas.microsoft.com/office/powerpoint/2010/main" spd="slow">
        <p:sndAc>
          <p:stSnd>
            <p:snd r:embed="rId3" name="Ta Da-SoundBible.com-1884170640.wav"/>
          </p:stSnd>
        </p:sndAc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4434"/>
            <a:ext cx="8229600" cy="857250"/>
          </a:xfrm>
        </p:spPr>
        <p:txBody>
          <a:bodyPr/>
          <a:lstStyle/>
          <a:p>
            <a:r>
              <a:rPr lang="en-US" dirty="0" smtClean="0"/>
              <a:t>Calcite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9339"/>
            <a:ext cx="8229600" cy="3233740"/>
          </a:xfrm>
        </p:spPr>
        <p:txBody>
          <a:bodyPr/>
          <a:lstStyle/>
          <a:p>
            <a:r>
              <a:rPr lang="en-US" dirty="0" smtClean="0"/>
              <a:t>How does Phoenix plug in?</a:t>
            </a:r>
          </a:p>
          <a:p>
            <a:r>
              <a:rPr lang="en-US" dirty="0"/>
              <a:t>O</a:t>
            </a:r>
            <a:r>
              <a:rPr lang="en-US" dirty="0" smtClean="0"/>
              <a:t>ptimization rules</a:t>
            </a:r>
          </a:p>
          <a:p>
            <a:r>
              <a:rPr lang="en-US" dirty="0" smtClean="0"/>
              <a:t>A </a:t>
            </a:r>
            <a:r>
              <a:rPr lang="en-US" altLang="zh-CN" dirty="0"/>
              <a:t>query </a:t>
            </a:r>
            <a:r>
              <a:rPr lang="en-US" dirty="0" smtClean="0"/>
              <a:t>example from logical operators to Phoenix query plan</a:t>
            </a:r>
          </a:p>
          <a:p>
            <a:r>
              <a:rPr lang="en-US" dirty="0" smtClean="0"/>
              <a:t>An interoperability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18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Phoenix plug in?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905250" y="1796970"/>
            <a:ext cx="3356658" cy="498971"/>
          </a:xfrm>
          <a:prstGeom prst="roundRect">
            <a:avLst>
              <a:gd name="adj" fmla="val 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Calcite Parser &amp; Validator</a:t>
            </a:r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905249" y="2295941"/>
            <a:ext cx="3356658" cy="498971"/>
          </a:xfrm>
          <a:prstGeom prst="roundRect">
            <a:avLst>
              <a:gd name="adj" fmla="val 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Calcite Query Optimizer</a:t>
            </a:r>
            <a:endParaRPr lang="zh-CN" alt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905254" y="2794911"/>
            <a:ext cx="3356657" cy="498971"/>
          </a:xfrm>
          <a:prstGeom prst="roundRect">
            <a:avLst>
              <a:gd name="adj" fmla="val 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Phoenix Query Plan Generator</a:t>
            </a:r>
            <a:endParaRPr lang="zh-CN" alt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905251" y="3293882"/>
            <a:ext cx="3356658" cy="498971"/>
          </a:xfrm>
          <a:prstGeom prst="roundRect">
            <a:avLst>
              <a:gd name="adj" fmla="val 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Phoenix Runtime</a:t>
            </a:r>
            <a:endParaRPr lang="zh-CN" altLang="en-US" dirty="0"/>
          </a:p>
        </p:txBody>
      </p:sp>
      <p:sp>
        <p:nvSpPr>
          <p:cNvPr id="8" name="Can 7"/>
          <p:cNvSpPr/>
          <p:nvPr/>
        </p:nvSpPr>
        <p:spPr>
          <a:xfrm>
            <a:off x="2905251" y="4132163"/>
            <a:ext cx="3356661" cy="538223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Phoenix Tables over HBase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6408" y="1099400"/>
            <a:ext cx="2494340" cy="393735"/>
          </a:xfrm>
          <a:prstGeom prst="roundRect">
            <a:avLst>
              <a:gd name="adj" fmla="val 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JDBC Client</a:t>
            </a:r>
            <a:endParaRPr lang="zh-CN" altLang="en-US" dirty="0"/>
          </a:p>
        </p:txBody>
      </p:sp>
      <p:cxnSp>
        <p:nvCxnSpPr>
          <p:cNvPr id="12" name="Straight Arrow Connector 11"/>
          <p:cNvCxnSpPr>
            <a:stCxn id="10" idx="2"/>
            <a:endCxn id="4" idx="0"/>
          </p:cNvCxnSpPr>
          <p:nvPr/>
        </p:nvCxnSpPr>
        <p:spPr>
          <a:xfrm>
            <a:off x="4583581" y="1493135"/>
            <a:ext cx="1" cy="3038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1"/>
            <a:endCxn id="7" idx="2"/>
          </p:cNvCxnSpPr>
          <p:nvPr/>
        </p:nvCxnSpPr>
        <p:spPr>
          <a:xfrm flipV="1">
            <a:off x="4583582" y="3792853"/>
            <a:ext cx="1" cy="3393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Multidocument 24"/>
          <p:cNvSpPr/>
          <p:nvPr/>
        </p:nvSpPr>
        <p:spPr>
          <a:xfrm>
            <a:off x="798654" y="1732901"/>
            <a:ext cx="1597306" cy="900373"/>
          </a:xfrm>
          <a:prstGeom prst="flowChartMulti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en-US" altLang="zh-CN" sz="1600" dirty="0" smtClean="0"/>
              <a:t>SQL + Phoenix specific grammar</a:t>
            </a:r>
            <a:endParaRPr lang="zh-CN" altLang="en-US" sz="1600" dirty="0"/>
          </a:p>
        </p:txBody>
      </p:sp>
      <p:sp>
        <p:nvSpPr>
          <p:cNvPr id="26" name="Flowchart: Multidocument 25"/>
          <p:cNvSpPr/>
          <p:nvPr/>
        </p:nvSpPr>
        <p:spPr>
          <a:xfrm>
            <a:off x="6912020" y="2187240"/>
            <a:ext cx="1560651" cy="949159"/>
          </a:xfrm>
          <a:prstGeom prst="flowChartMulti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r>
              <a:rPr lang="en-US" altLang="zh-CN" sz="1600" dirty="0"/>
              <a:t>B</a:t>
            </a:r>
            <a:r>
              <a:rPr lang="en-US" altLang="zh-CN" sz="1600" dirty="0" smtClean="0"/>
              <a:t>uilt-in rules</a:t>
            </a:r>
          </a:p>
          <a:p>
            <a:pPr algn="ctr"/>
            <a:r>
              <a:rPr lang="en-US" altLang="zh-CN" sz="1600" dirty="0" smtClean="0"/>
              <a:t>+ Phoenix specific rules</a:t>
            </a:r>
            <a:endParaRPr lang="zh-CN" altLang="en-US" sz="1600" dirty="0"/>
          </a:p>
        </p:txBody>
      </p:sp>
      <p:cxnSp>
        <p:nvCxnSpPr>
          <p:cNvPr id="28" name="Straight Arrow Connector 27"/>
          <p:cNvCxnSpPr>
            <a:stCxn id="25" idx="3"/>
            <a:endCxn id="4" idx="1"/>
          </p:cNvCxnSpPr>
          <p:nvPr/>
        </p:nvCxnSpPr>
        <p:spPr>
          <a:xfrm flipV="1">
            <a:off x="2395960" y="2046455"/>
            <a:ext cx="509290" cy="1366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1"/>
            <a:endCxn id="5" idx="3"/>
          </p:cNvCxnSpPr>
          <p:nvPr/>
        </p:nvCxnSpPr>
        <p:spPr>
          <a:xfrm flipH="1" flipV="1">
            <a:off x="6261907" y="2545427"/>
            <a:ext cx="650110" cy="1163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349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1861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Optimization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7981"/>
            <a:ext cx="8229600" cy="355747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 smtClean="0"/>
              <a:t>AggregateRemoveRule</a:t>
            </a:r>
            <a:endParaRPr lang="en-US" dirty="0" smtClean="0"/>
          </a:p>
          <a:p>
            <a:r>
              <a:rPr lang="en-US" dirty="0" err="1" smtClean="0"/>
              <a:t>FilterAggregateTransposeRule</a:t>
            </a:r>
            <a:endParaRPr lang="en-US" dirty="0" smtClean="0"/>
          </a:p>
          <a:p>
            <a:r>
              <a:rPr lang="en-US" dirty="0" err="1" smtClean="0"/>
              <a:t>FilterJoinRule</a:t>
            </a:r>
            <a:endParaRPr lang="en-US" dirty="0" smtClean="0"/>
          </a:p>
          <a:p>
            <a:r>
              <a:rPr lang="en-US" dirty="0" err="1" smtClean="0"/>
              <a:t>FilterMergeRule</a:t>
            </a:r>
            <a:endParaRPr lang="en-US" dirty="0" smtClean="0"/>
          </a:p>
          <a:p>
            <a:r>
              <a:rPr lang="en-US" dirty="0" err="1" smtClean="0"/>
              <a:t>JoinCommuteRule</a:t>
            </a:r>
            <a:endParaRPr lang="en-US" dirty="0" smtClean="0"/>
          </a:p>
          <a:p>
            <a:r>
              <a:rPr lang="en-US" dirty="0" err="1" smtClean="0"/>
              <a:t>PhoenixFilterScanMergeRule</a:t>
            </a:r>
            <a:endParaRPr lang="en-US" dirty="0" smtClean="0"/>
          </a:p>
          <a:p>
            <a:r>
              <a:rPr lang="en-US" dirty="0" err="1" smtClean="0"/>
              <a:t>PhoenixJoinSingleAggregateMergeRule</a:t>
            </a:r>
            <a:endParaRPr lang="en-US" dirty="0" smtClean="0"/>
          </a:p>
          <a:p>
            <a:r>
              <a:rPr lang="en-US" altLang="zh-CN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4510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5979"/>
            <a:ext cx="8466189" cy="8572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Example </a:t>
            </a:r>
            <a:br>
              <a:rPr lang="en-US" dirty="0" smtClean="0"/>
            </a:br>
            <a:r>
              <a:rPr lang="en-US" sz="4000" dirty="0" smtClean="0"/>
              <a:t>(filter push-down and smart join algorithm)</a:t>
            </a:r>
            <a:endParaRPr lang="en-US" sz="4000" dirty="0"/>
          </a:p>
        </p:txBody>
      </p:sp>
      <p:sp>
        <p:nvSpPr>
          <p:cNvPr id="4" name="Oval 3"/>
          <p:cNvSpPr/>
          <p:nvPr/>
        </p:nvSpPr>
        <p:spPr>
          <a:xfrm>
            <a:off x="1377400" y="2185416"/>
            <a:ext cx="1632030" cy="51233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600" dirty="0" err="1" smtClean="0"/>
              <a:t>LogicalFilter</a:t>
            </a:r>
            <a:endParaRPr lang="en-US" altLang="zh-CN" sz="1600" dirty="0" smtClean="0"/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filter: $0 = ‘x’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662426" y="2938804"/>
            <a:ext cx="1632030" cy="589197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600" dirty="0" err="1" smtClean="0"/>
              <a:t>LogicalJoin</a:t>
            </a:r>
            <a:endParaRPr lang="en-US" altLang="zh-CN" sz="1600" dirty="0" smtClean="0"/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type: inner</a:t>
            </a:r>
          </a:p>
          <a:p>
            <a:pPr algn="ctr"/>
            <a:r>
              <a:rPr lang="en-US" altLang="zh-CN" sz="1400" dirty="0" err="1" smtClean="0">
                <a:solidFill>
                  <a:schemeClr val="accent6">
                    <a:lumMod val="75000"/>
                  </a:schemeClr>
                </a:solidFill>
              </a:rPr>
              <a:t>cond</a:t>
            </a:r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: $3 = $7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46581" y="1438848"/>
            <a:ext cx="1834575" cy="51522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600" dirty="0" err="1" smtClean="0"/>
              <a:t>LogicalProject</a:t>
            </a:r>
            <a:endParaRPr lang="en-US" altLang="zh-CN" sz="1600" dirty="0" smtClean="0"/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projects: $0, $5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379806" y="3685936"/>
            <a:ext cx="1956122" cy="507297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600" dirty="0" err="1" smtClean="0"/>
              <a:t>LogicalTableScan</a:t>
            </a:r>
            <a:endParaRPr lang="en-US" altLang="zh-CN" sz="1600" dirty="0" smtClean="0"/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table: A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171712" y="3982287"/>
            <a:ext cx="1956122" cy="55579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600" dirty="0" err="1" smtClean="0"/>
              <a:t>LogicalTableScan</a:t>
            </a:r>
            <a:endParaRPr lang="en-US" altLang="zh-CN" sz="1600" dirty="0" smtClean="0"/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table: B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0" name="Straight Connector 9"/>
          <p:cNvCxnSpPr>
            <a:stCxn id="6" idx="4"/>
            <a:endCxn id="4" idx="0"/>
          </p:cNvCxnSpPr>
          <p:nvPr/>
        </p:nvCxnSpPr>
        <p:spPr>
          <a:xfrm>
            <a:off x="1663869" y="1954073"/>
            <a:ext cx="529549" cy="231343"/>
          </a:xfrm>
          <a:prstGeom prst="lin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2" name="Straight Connector 11"/>
          <p:cNvCxnSpPr>
            <a:stCxn id="4" idx="4"/>
            <a:endCxn id="5" idx="0"/>
          </p:cNvCxnSpPr>
          <p:nvPr/>
        </p:nvCxnSpPr>
        <p:spPr>
          <a:xfrm>
            <a:off x="2193415" y="2697755"/>
            <a:ext cx="285026" cy="241049"/>
          </a:xfrm>
          <a:prstGeom prst="lin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4" name="Straight Connector 13"/>
          <p:cNvCxnSpPr>
            <a:stCxn id="5" idx="4"/>
            <a:endCxn id="7" idx="7"/>
          </p:cNvCxnSpPr>
          <p:nvPr/>
        </p:nvCxnSpPr>
        <p:spPr>
          <a:xfrm flipH="1">
            <a:off x="2049461" y="3528001"/>
            <a:ext cx="428980" cy="232228"/>
          </a:xfrm>
          <a:prstGeom prst="lin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6" name="Straight Connector 15"/>
          <p:cNvCxnSpPr>
            <a:stCxn id="5" idx="4"/>
            <a:endCxn id="8" idx="0"/>
          </p:cNvCxnSpPr>
          <p:nvPr/>
        </p:nvCxnSpPr>
        <p:spPr>
          <a:xfrm>
            <a:off x="2478441" y="3528001"/>
            <a:ext cx="671332" cy="454287"/>
          </a:xfrm>
          <a:prstGeom prst="lin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sp>
        <p:nvSpPr>
          <p:cNvPr id="27" name="Oval 26"/>
          <p:cNvSpPr/>
          <p:nvPr/>
        </p:nvSpPr>
        <p:spPr>
          <a:xfrm>
            <a:off x="7048984" y="3920331"/>
            <a:ext cx="1874405" cy="678521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/>
              <a:t>PhoenixTableScan</a:t>
            </a:r>
            <a:endParaRPr lang="en-US" altLang="zh-CN" sz="1600" dirty="0"/>
          </a:p>
          <a:p>
            <a:pPr algn="ctr"/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table: ‘a’</a:t>
            </a:r>
          </a:p>
          <a:p>
            <a:pPr algn="ctr"/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filter: $0 = ‘x</a:t>
            </a:r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’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5750477" y="2253099"/>
            <a:ext cx="2079103" cy="63286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PhoenixServerJoin</a:t>
            </a:r>
            <a:endParaRPr lang="en-US" altLang="zh-CN" sz="1400" dirty="0" smtClean="0"/>
          </a:p>
          <a:p>
            <a:pPr lvl="0" algn="ctr"/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type: inner</a:t>
            </a:r>
          </a:p>
          <a:p>
            <a:pPr lvl="0" algn="ctr"/>
            <a:r>
              <a:rPr lang="en-US" altLang="zh-CN" sz="1400" dirty="0" err="1">
                <a:solidFill>
                  <a:srgbClr val="F79646">
                    <a:lumMod val="75000"/>
                  </a:srgbClr>
                </a:solidFill>
              </a:rPr>
              <a:t>cond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: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$3 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=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1</a:t>
            </a:r>
            <a:endParaRPr lang="zh-CN" altLang="en-US" sz="1400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5639070" y="1441892"/>
            <a:ext cx="2335888" cy="6308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PhoenixServerProject</a:t>
            </a:r>
            <a:endParaRPr lang="en-US" altLang="zh-CN" sz="1400" dirty="0" smtClean="0"/>
          </a:p>
          <a:p>
            <a:pPr lvl="0" algn="ctr"/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projects: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$2, $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0</a:t>
            </a:r>
            <a:endParaRPr lang="zh-CN" altLang="en-US" sz="1400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32" name="Straight Connector 31"/>
          <p:cNvCxnSpPr>
            <a:stCxn id="29" idx="4"/>
            <a:endCxn id="28" idx="0"/>
          </p:cNvCxnSpPr>
          <p:nvPr/>
        </p:nvCxnSpPr>
        <p:spPr>
          <a:xfrm flipH="1">
            <a:off x="6790028" y="2072788"/>
            <a:ext cx="16986" cy="180311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4" name="Straight Connector 33"/>
          <p:cNvCxnSpPr>
            <a:stCxn id="28" idx="4"/>
            <a:endCxn id="24" idx="0"/>
          </p:cNvCxnSpPr>
          <p:nvPr/>
        </p:nvCxnSpPr>
        <p:spPr>
          <a:xfrm flipH="1">
            <a:off x="5813196" y="2885962"/>
            <a:ext cx="976832" cy="492177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5" name="Straight Connector 34"/>
          <p:cNvCxnSpPr>
            <a:stCxn id="28" idx="4"/>
            <a:endCxn id="25" idx="0"/>
          </p:cNvCxnSpPr>
          <p:nvPr/>
        </p:nvCxnSpPr>
        <p:spPr>
          <a:xfrm>
            <a:off x="6790031" y="2885963"/>
            <a:ext cx="997221" cy="132574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51" name="Right Arrow 50"/>
          <p:cNvSpPr/>
          <p:nvPr/>
        </p:nvSpPr>
        <p:spPr>
          <a:xfrm>
            <a:off x="3657600" y="1438848"/>
            <a:ext cx="1655183" cy="2247089"/>
          </a:xfrm>
          <a:prstGeom prst="rightArrow">
            <a:avLst>
              <a:gd name="adj1" fmla="val 62665"/>
              <a:gd name="adj2" fmla="val 50000"/>
            </a:avLst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 smtClean="0">
                <a:solidFill>
                  <a:schemeClr val="tx2"/>
                </a:solidFill>
              </a:rPr>
              <a:t>Optimizer</a:t>
            </a:r>
          </a:p>
          <a:p>
            <a:pPr algn="ctr"/>
            <a:r>
              <a:rPr lang="en-US" altLang="zh-CN" sz="1400" dirty="0" smtClean="0">
                <a:solidFill>
                  <a:schemeClr val="tx2"/>
                </a:solidFill>
              </a:rPr>
              <a:t>(with </a:t>
            </a:r>
            <a:r>
              <a:rPr lang="en-US" altLang="zh-CN" sz="1400" dirty="0" err="1" smtClean="0">
                <a:solidFill>
                  <a:schemeClr val="tx2"/>
                </a:solidFill>
              </a:rPr>
              <a:t>RelOptRules</a:t>
            </a:r>
            <a:r>
              <a:rPr lang="en-US" altLang="zh-CN" sz="1400" dirty="0" smtClean="0">
                <a:solidFill>
                  <a:schemeClr val="tx2"/>
                </a:solidFill>
              </a:rPr>
              <a:t> &amp; </a:t>
            </a:r>
            <a:r>
              <a:rPr lang="en-US" altLang="zh-CN" sz="1400" dirty="0" err="1" smtClean="0">
                <a:solidFill>
                  <a:schemeClr val="tx2"/>
                </a:solidFill>
              </a:rPr>
              <a:t>ConvertRules</a:t>
            </a:r>
            <a:r>
              <a:rPr lang="en-US" altLang="zh-CN" sz="1400" dirty="0" smtClean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52" name="Oval 51"/>
          <p:cNvSpPr/>
          <p:nvPr/>
        </p:nvSpPr>
        <p:spPr>
          <a:xfrm>
            <a:off x="4828538" y="4169694"/>
            <a:ext cx="1850061" cy="56793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PhoenixTableScan</a:t>
            </a:r>
            <a:endParaRPr lang="en-US" altLang="zh-CN" sz="1600" dirty="0" smtClean="0"/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table: ‘b’</a:t>
            </a:r>
          </a:p>
        </p:txBody>
      </p:sp>
      <p:sp>
        <p:nvSpPr>
          <p:cNvPr id="24" name="Oval 23"/>
          <p:cNvSpPr/>
          <p:nvPr/>
        </p:nvSpPr>
        <p:spPr>
          <a:xfrm>
            <a:off x="4710900" y="3378138"/>
            <a:ext cx="2204593" cy="6308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PhoenixServerProject</a:t>
            </a:r>
            <a:endParaRPr lang="en-US" altLang="zh-CN" sz="1600" dirty="0" smtClean="0"/>
          </a:p>
          <a:p>
            <a:pPr lvl="0" algn="ctr"/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projects: $0,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2</a:t>
            </a:r>
            <a:endParaRPr lang="zh-CN" altLang="en-US" sz="1400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678599" y="3018536"/>
            <a:ext cx="2217305" cy="57891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PhoenixServerProject</a:t>
            </a:r>
            <a:endParaRPr lang="en-US" altLang="zh-CN" sz="1600" dirty="0" smtClean="0"/>
          </a:p>
          <a:p>
            <a:pPr lvl="0" algn="ctr"/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projects: $0,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3</a:t>
            </a:r>
            <a:endParaRPr lang="zh-CN" altLang="en-US" sz="1400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56" name="Straight Connector 55"/>
          <p:cNvCxnSpPr>
            <a:stCxn id="24" idx="4"/>
            <a:endCxn id="52" idx="0"/>
          </p:cNvCxnSpPr>
          <p:nvPr/>
        </p:nvCxnSpPr>
        <p:spPr>
          <a:xfrm flipH="1">
            <a:off x="5753566" y="4009035"/>
            <a:ext cx="59630" cy="160659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59" name="Straight Connector 58"/>
          <p:cNvCxnSpPr>
            <a:stCxn id="25" idx="4"/>
            <a:endCxn id="27" idx="0"/>
          </p:cNvCxnSpPr>
          <p:nvPr/>
        </p:nvCxnSpPr>
        <p:spPr>
          <a:xfrm>
            <a:off x="7787252" y="3597450"/>
            <a:ext cx="198935" cy="322880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3895299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Query Example</a:t>
            </a:r>
            <a:br>
              <a:rPr lang="en-US" altLang="zh-CN" dirty="0" smtClean="0"/>
            </a:br>
            <a:r>
              <a:rPr lang="en-US" altLang="zh-CN" sz="4000" dirty="0">
                <a:solidFill>
                  <a:prstClr val="black"/>
                </a:solidFill>
              </a:rPr>
              <a:t>(filter push-down and smart join algorithm)</a:t>
            </a:r>
            <a:endParaRPr lang="zh-CN" altLang="en-US" dirty="0"/>
          </a:p>
        </p:txBody>
      </p:sp>
      <p:sp>
        <p:nvSpPr>
          <p:cNvPr id="14" name="Oval 13"/>
          <p:cNvSpPr/>
          <p:nvPr/>
        </p:nvSpPr>
        <p:spPr>
          <a:xfrm>
            <a:off x="6626122" y="3789878"/>
            <a:ext cx="2187616" cy="94809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600" dirty="0" err="1" smtClean="0"/>
              <a:t>ScanPlan</a:t>
            </a:r>
            <a:endParaRPr lang="en-US" altLang="zh-CN" sz="1600" dirty="0"/>
          </a:p>
          <a:p>
            <a:pPr algn="ctr"/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table: ‘a’</a:t>
            </a:r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skip-scan: pk0 = ‘x’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projects: </a:t>
            </a:r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pk0, c3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512453" y="1632032"/>
            <a:ext cx="2002813" cy="103519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600" dirty="0" err="1" smtClean="0"/>
              <a:t>HashJoinPlan</a:t>
            </a:r>
            <a:endParaRPr lang="en-US" altLang="zh-CN" sz="1600" dirty="0" smtClean="0"/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types {inner}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join-keys: {$1}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projects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$2, $0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9" name="Straight Connector 18"/>
          <p:cNvCxnSpPr>
            <a:stCxn id="15" idx="4"/>
            <a:endCxn id="14" idx="0"/>
          </p:cNvCxnSpPr>
          <p:nvPr/>
        </p:nvCxnSpPr>
        <p:spPr>
          <a:xfrm>
            <a:off x="7513858" y="2667221"/>
            <a:ext cx="206073" cy="1122657"/>
          </a:xfrm>
          <a:prstGeom prst="lin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33" name="Rectangle 32"/>
          <p:cNvSpPr/>
          <p:nvPr/>
        </p:nvSpPr>
        <p:spPr>
          <a:xfrm>
            <a:off x="7487006" y="3479113"/>
            <a:ext cx="1122549" cy="3968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0" bIns="0" rtlCol="0" anchor="ctr"/>
          <a:lstStyle/>
          <a:p>
            <a:pPr algn="ctr"/>
            <a:r>
              <a:rPr lang="en-US" altLang="zh-CN" sz="1600" dirty="0" smtClean="0"/>
              <a:t>Build</a:t>
            </a:r>
          </a:p>
          <a:p>
            <a:pPr lvl="0" algn="ctr"/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hash-key: $1</a:t>
            </a:r>
            <a:endParaRPr lang="zh-CN" altLang="en-US" sz="1400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35" name="Right Arrow 34"/>
          <p:cNvSpPr/>
          <p:nvPr/>
        </p:nvSpPr>
        <p:spPr>
          <a:xfrm>
            <a:off x="4105733" y="1707174"/>
            <a:ext cx="1655183" cy="1637045"/>
          </a:xfrm>
          <a:prstGeom prst="rightArrow">
            <a:avLst>
              <a:gd name="adj1" fmla="val 62665"/>
              <a:gd name="adj2" fmla="val 50000"/>
            </a:avLst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 smtClean="0">
                <a:solidFill>
                  <a:schemeClr val="tx2"/>
                </a:solidFill>
              </a:rPr>
              <a:t>Phoenix</a:t>
            </a:r>
          </a:p>
          <a:p>
            <a:pPr algn="ctr"/>
            <a:r>
              <a:rPr lang="en-US" altLang="zh-CN" sz="1600" dirty="0" err="1" smtClean="0">
                <a:solidFill>
                  <a:schemeClr val="tx2"/>
                </a:solidFill>
              </a:rPr>
              <a:t>Implementor</a:t>
            </a:r>
            <a:endParaRPr lang="en-US" altLang="zh-CN" sz="1600" dirty="0" smtClean="0">
              <a:solidFill>
                <a:schemeClr val="tx2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2662059" y="3991978"/>
            <a:ext cx="1874405" cy="678521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/>
              <a:t>PhoenixTableScan</a:t>
            </a:r>
            <a:endParaRPr lang="en-US" altLang="zh-CN" sz="1600" dirty="0"/>
          </a:p>
          <a:p>
            <a:pPr algn="ctr"/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table: ‘a’</a:t>
            </a:r>
          </a:p>
          <a:p>
            <a:pPr algn="ctr"/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filter: $0 = ‘x</a:t>
            </a:r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’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63554" y="2324746"/>
            <a:ext cx="2079103" cy="63286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PhoenixServerJoin</a:t>
            </a:r>
            <a:endParaRPr lang="en-US" altLang="zh-CN" sz="1400" dirty="0" smtClean="0"/>
          </a:p>
          <a:p>
            <a:pPr lvl="0" algn="ctr"/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type: inner</a:t>
            </a:r>
          </a:p>
          <a:p>
            <a:pPr lvl="0" algn="ctr"/>
            <a:r>
              <a:rPr lang="en-US" altLang="zh-CN" sz="1400" dirty="0" err="1">
                <a:solidFill>
                  <a:srgbClr val="F79646">
                    <a:lumMod val="75000"/>
                  </a:srgbClr>
                </a:solidFill>
              </a:rPr>
              <a:t>cond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: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$3 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=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1</a:t>
            </a:r>
            <a:endParaRPr lang="zh-CN" altLang="en-US" sz="1400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1252145" y="1513539"/>
            <a:ext cx="2335888" cy="6308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PhoenixServerProject</a:t>
            </a:r>
            <a:endParaRPr lang="en-US" altLang="zh-CN" sz="1400" dirty="0" smtClean="0"/>
          </a:p>
          <a:p>
            <a:pPr lvl="0" algn="ctr"/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projects: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$2, $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0</a:t>
            </a:r>
            <a:endParaRPr lang="zh-CN" altLang="en-US" sz="1400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22" name="Straight Connector 21"/>
          <p:cNvCxnSpPr>
            <a:stCxn id="21" idx="4"/>
            <a:endCxn id="20" idx="0"/>
          </p:cNvCxnSpPr>
          <p:nvPr/>
        </p:nvCxnSpPr>
        <p:spPr>
          <a:xfrm flipH="1">
            <a:off x="2403103" y="2144435"/>
            <a:ext cx="16986" cy="180311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3" name="Straight Connector 22"/>
          <p:cNvCxnSpPr>
            <a:stCxn id="20" idx="4"/>
            <a:endCxn id="26" idx="0"/>
          </p:cNvCxnSpPr>
          <p:nvPr/>
        </p:nvCxnSpPr>
        <p:spPr>
          <a:xfrm flipH="1">
            <a:off x="1426271" y="2957609"/>
            <a:ext cx="976832" cy="492177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4" name="Straight Connector 23"/>
          <p:cNvCxnSpPr>
            <a:stCxn id="20" idx="4"/>
            <a:endCxn id="27" idx="0"/>
          </p:cNvCxnSpPr>
          <p:nvPr/>
        </p:nvCxnSpPr>
        <p:spPr>
          <a:xfrm>
            <a:off x="2403104" y="2957610"/>
            <a:ext cx="997221" cy="132574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25" name="Oval 24"/>
          <p:cNvSpPr/>
          <p:nvPr/>
        </p:nvSpPr>
        <p:spPr>
          <a:xfrm>
            <a:off x="441613" y="4241341"/>
            <a:ext cx="1850061" cy="56793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PhoenixTableScan</a:t>
            </a:r>
            <a:endParaRPr lang="en-US" altLang="zh-CN" sz="1600" dirty="0" smtClean="0"/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table: ‘b’</a:t>
            </a:r>
          </a:p>
        </p:txBody>
      </p:sp>
      <p:sp>
        <p:nvSpPr>
          <p:cNvPr id="26" name="Oval 25"/>
          <p:cNvSpPr/>
          <p:nvPr/>
        </p:nvSpPr>
        <p:spPr>
          <a:xfrm>
            <a:off x="323975" y="3449785"/>
            <a:ext cx="2204593" cy="6308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PhoenixServerProject</a:t>
            </a:r>
            <a:endParaRPr lang="en-US" altLang="zh-CN" sz="1600" dirty="0" smtClean="0"/>
          </a:p>
          <a:p>
            <a:pPr lvl="0" algn="ctr"/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projects: $0,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2</a:t>
            </a:r>
            <a:endParaRPr lang="zh-CN" altLang="en-US" sz="1400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291674" y="3090183"/>
            <a:ext cx="2217305" cy="57891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400" dirty="0" err="1" smtClean="0"/>
              <a:t>PhoenixServerProject</a:t>
            </a:r>
            <a:endParaRPr lang="en-US" altLang="zh-CN" sz="1600" dirty="0" smtClean="0"/>
          </a:p>
          <a:p>
            <a:pPr lvl="0" algn="ctr"/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projects: $0, </a:t>
            </a:r>
            <a:r>
              <a:rPr lang="en-US" altLang="zh-CN" sz="1400" dirty="0" smtClean="0">
                <a:solidFill>
                  <a:srgbClr val="F79646">
                    <a:lumMod val="75000"/>
                  </a:srgbClr>
                </a:solidFill>
              </a:rPr>
              <a:t>$</a:t>
            </a:r>
            <a:r>
              <a:rPr lang="en-US" altLang="zh-CN" sz="1400" dirty="0">
                <a:solidFill>
                  <a:srgbClr val="F79646">
                    <a:lumMod val="75000"/>
                  </a:srgbClr>
                </a:solidFill>
              </a:rPr>
              <a:t>3</a:t>
            </a:r>
            <a:endParaRPr lang="zh-CN" altLang="en-US" sz="1400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28" name="Straight Connector 27"/>
          <p:cNvCxnSpPr>
            <a:stCxn id="26" idx="4"/>
            <a:endCxn id="25" idx="0"/>
          </p:cNvCxnSpPr>
          <p:nvPr/>
        </p:nvCxnSpPr>
        <p:spPr>
          <a:xfrm flipH="1">
            <a:off x="1366641" y="4080682"/>
            <a:ext cx="59630" cy="160659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9" name="Straight Connector 28"/>
          <p:cNvCxnSpPr>
            <a:stCxn id="27" idx="4"/>
            <a:endCxn id="18" idx="0"/>
          </p:cNvCxnSpPr>
          <p:nvPr/>
        </p:nvCxnSpPr>
        <p:spPr>
          <a:xfrm>
            <a:off x="3400327" y="3669097"/>
            <a:ext cx="198935" cy="322880"/>
          </a:xfrm>
          <a:prstGeom prst="lin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0" name="Oval 29"/>
          <p:cNvSpPr/>
          <p:nvPr/>
        </p:nvSpPr>
        <p:spPr>
          <a:xfrm>
            <a:off x="5248523" y="3068344"/>
            <a:ext cx="2002813" cy="80762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rtlCol="0" anchor="ctr"/>
          <a:lstStyle/>
          <a:p>
            <a:pPr algn="ctr"/>
            <a:r>
              <a:rPr lang="en-US" altLang="zh-CN" sz="1600" dirty="0" err="1" smtClean="0"/>
              <a:t>ScanPlan</a:t>
            </a:r>
            <a:endParaRPr lang="en-US" altLang="zh-CN" sz="1600" dirty="0" smtClean="0"/>
          </a:p>
          <a:p>
            <a:pPr algn="ctr"/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table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: ‘b</a:t>
            </a:r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’</a:t>
            </a:r>
          </a:p>
          <a:p>
            <a:pPr algn="ctr"/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</a:rPr>
              <a:t>projects: </a:t>
            </a:r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</a:rPr>
              <a:t>col0, col2</a:t>
            </a:r>
          </a:p>
        </p:txBody>
      </p:sp>
      <p:cxnSp>
        <p:nvCxnSpPr>
          <p:cNvPr id="34" name="Straight Connector 33"/>
          <p:cNvCxnSpPr>
            <a:stCxn id="15" idx="4"/>
            <a:endCxn id="30" idx="0"/>
          </p:cNvCxnSpPr>
          <p:nvPr/>
        </p:nvCxnSpPr>
        <p:spPr>
          <a:xfrm flipH="1">
            <a:off x="6249927" y="2667222"/>
            <a:ext cx="1263930" cy="401123"/>
          </a:xfrm>
          <a:prstGeom prst="lin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36" name="Rectangle 35"/>
          <p:cNvSpPr/>
          <p:nvPr/>
        </p:nvSpPr>
        <p:spPr>
          <a:xfrm>
            <a:off x="6014725" y="2884537"/>
            <a:ext cx="925976" cy="25758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</a:t>
            </a:r>
            <a:r>
              <a:rPr lang="en-US" altLang="zh-CN" sz="1600" dirty="0" smtClean="0"/>
              <a:t>robe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099101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Interoperibility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Joining data from Phoenix and </a:t>
            </a:r>
            <a:r>
              <a:rPr lang="en-US" dirty="0" err="1" smtClean="0"/>
              <a:t>mySQL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476972" y="2066063"/>
            <a:ext cx="3240912" cy="58162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EnumerableJoin</a:t>
            </a:r>
            <a:endParaRPr lang="zh-CN" altLang="en-US" dirty="0"/>
          </a:p>
        </p:txBody>
      </p:sp>
      <p:sp>
        <p:nvSpPr>
          <p:cNvPr id="6" name="Oval 5"/>
          <p:cNvSpPr/>
          <p:nvPr/>
        </p:nvSpPr>
        <p:spPr>
          <a:xfrm>
            <a:off x="1226906" y="2864716"/>
            <a:ext cx="2639028" cy="46009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PhoenixTableScan</a:t>
            </a:r>
            <a:endParaRPr lang="zh-CN" altLang="en-US" dirty="0"/>
          </a:p>
        </p:txBody>
      </p:sp>
      <p:sp>
        <p:nvSpPr>
          <p:cNvPr id="7" name="Oval 6"/>
          <p:cNvSpPr/>
          <p:nvPr/>
        </p:nvSpPr>
        <p:spPr>
          <a:xfrm>
            <a:off x="5127575" y="2704119"/>
            <a:ext cx="2569580" cy="59030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JdbcTableScan</a:t>
            </a:r>
            <a:endParaRPr lang="zh-CN" altLang="en-US" dirty="0"/>
          </a:p>
        </p:txBody>
      </p:sp>
      <p:sp>
        <p:nvSpPr>
          <p:cNvPr id="8" name="Can 7"/>
          <p:cNvSpPr/>
          <p:nvPr/>
        </p:nvSpPr>
        <p:spPr>
          <a:xfrm>
            <a:off x="1064861" y="3611285"/>
            <a:ext cx="2963117" cy="538223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Phoenix Tables over HBase</a:t>
            </a:r>
          </a:p>
        </p:txBody>
      </p:sp>
      <p:sp>
        <p:nvSpPr>
          <p:cNvPr id="9" name="Can 8"/>
          <p:cNvSpPr/>
          <p:nvPr/>
        </p:nvSpPr>
        <p:spPr>
          <a:xfrm>
            <a:off x="5822057" y="3663372"/>
            <a:ext cx="1958049" cy="538223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mySQL</a:t>
            </a:r>
            <a:r>
              <a:rPr lang="en-US" altLang="zh-CN" dirty="0" smtClean="0"/>
              <a:t> Database</a:t>
            </a:r>
          </a:p>
        </p:txBody>
      </p:sp>
      <p:cxnSp>
        <p:nvCxnSpPr>
          <p:cNvPr id="11" name="Straight Arrow Connector 10"/>
          <p:cNvCxnSpPr>
            <a:stCxn id="8" idx="1"/>
            <a:endCxn id="6" idx="4"/>
          </p:cNvCxnSpPr>
          <p:nvPr/>
        </p:nvCxnSpPr>
        <p:spPr>
          <a:xfrm flipV="1">
            <a:off x="2546420" y="3324811"/>
            <a:ext cx="0" cy="286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1"/>
            <a:endCxn id="7" idx="4"/>
          </p:cNvCxnSpPr>
          <p:nvPr/>
        </p:nvCxnSpPr>
        <p:spPr>
          <a:xfrm flipH="1" flipV="1">
            <a:off x="6412365" y="3294428"/>
            <a:ext cx="388716" cy="3689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3"/>
            <a:endCxn id="6" idx="0"/>
          </p:cNvCxnSpPr>
          <p:nvPr/>
        </p:nvCxnSpPr>
        <p:spPr>
          <a:xfrm flipH="1">
            <a:off x="2546420" y="2562515"/>
            <a:ext cx="405173" cy="302203"/>
          </a:xfrm>
          <a:prstGeom prst="lin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17" name="Straight Connector 16"/>
          <p:cNvCxnSpPr>
            <a:stCxn id="5" idx="5"/>
            <a:endCxn id="7" idx="0"/>
          </p:cNvCxnSpPr>
          <p:nvPr/>
        </p:nvCxnSpPr>
        <p:spPr>
          <a:xfrm>
            <a:off x="5243263" y="2562515"/>
            <a:ext cx="1169102" cy="141605"/>
          </a:xfrm>
          <a:prstGeom prst="lin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482480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833" y="391976"/>
            <a:ext cx="8229600" cy="5058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Thank you!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/>
              <a:t>Questions?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72046" y="4668909"/>
            <a:ext cx="4041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 who uses Phoenix</a:t>
            </a:r>
            <a:endParaRPr lang="en-US" dirty="0"/>
          </a:p>
        </p:txBody>
      </p:sp>
      <p:pic>
        <p:nvPicPr>
          <p:cNvPr id="6" name="Picture 5" descr="who's using phoeni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2114"/>
            <a:ext cx="9144000" cy="3283555"/>
          </a:xfrm>
          <a:prstGeom prst="rect">
            <a:avLst/>
          </a:prstGeom>
        </p:spPr>
      </p:pic>
      <p:pic>
        <p:nvPicPr>
          <p:cNvPr id="7" name="Picture 6" descr="sfdc-logo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989"/>
          <a:stretch/>
        </p:blipFill>
        <p:spPr>
          <a:xfrm>
            <a:off x="1422826" y="1675893"/>
            <a:ext cx="1104523" cy="69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367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4461</TotalTime>
  <Words>1801</Words>
  <Application>Microsoft Macintosh PowerPoint</Application>
  <PresentationFormat>On-screen Show (16:9)</PresentationFormat>
  <Paragraphs>391</Paragraphs>
  <Slides>34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About James</vt:lpstr>
      <vt:lpstr>Agenda</vt:lpstr>
      <vt:lpstr>What is Apache Phoenix?</vt:lpstr>
      <vt:lpstr>Where Does Phoenix Fit In?</vt:lpstr>
      <vt:lpstr>State of the Union</vt:lpstr>
      <vt:lpstr>About Maryann</vt:lpstr>
      <vt:lpstr>Join and Subquery Support</vt:lpstr>
      <vt:lpstr>TPC Example 1 Small-Quantity-Order Revenue Query (Q17)</vt:lpstr>
      <vt:lpstr>TPC Example 2 Order Priority Checking Query (Q4)</vt:lpstr>
      <vt:lpstr>Join support - what can't we do?</vt:lpstr>
      <vt:lpstr>What’s New?</vt:lpstr>
      <vt:lpstr>Functional Indexes</vt:lpstr>
      <vt:lpstr>What’s New?</vt:lpstr>
      <vt:lpstr>User Defined Functions</vt:lpstr>
      <vt:lpstr>What’s New?</vt:lpstr>
      <vt:lpstr>Query Server + Thin Driver</vt:lpstr>
      <vt:lpstr>What’s New?</vt:lpstr>
      <vt:lpstr>Transactions</vt:lpstr>
      <vt:lpstr>Optimistic Concurrency Control</vt:lpstr>
      <vt:lpstr>Tephra Architecture</vt:lpstr>
      <vt:lpstr>PowerPoint Presentation</vt:lpstr>
      <vt:lpstr>Tephra Architecture</vt:lpstr>
      <vt:lpstr>What’s New?</vt:lpstr>
      <vt:lpstr>What’s Next?</vt:lpstr>
      <vt:lpstr>What’s Next?</vt:lpstr>
      <vt:lpstr>Introducing Apache Calcite</vt:lpstr>
      <vt:lpstr>Calcite Integration</vt:lpstr>
      <vt:lpstr>How does Phoenix plug in?</vt:lpstr>
      <vt:lpstr>Optimization Rules</vt:lpstr>
      <vt:lpstr>Query Example  (filter push-down and smart join algorithm)</vt:lpstr>
      <vt:lpstr>Query Example (filter push-down and smart join algorithm)</vt:lpstr>
      <vt:lpstr>Interoperibility Example</vt:lpstr>
      <vt:lpstr>Thank you! Questions?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Phoenix</dc:title>
  <dc:creator>Salesforce.com</dc:creator>
  <cp:lastModifiedBy>System Administrator</cp:lastModifiedBy>
  <cp:revision>515</cp:revision>
  <dcterms:created xsi:type="dcterms:W3CDTF">2014-10-21T20:40:37Z</dcterms:created>
  <dcterms:modified xsi:type="dcterms:W3CDTF">2015-05-06T22:47:17Z</dcterms:modified>
</cp:coreProperties>
</file>